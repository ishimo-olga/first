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1E4080">
              <a:alpha val="40000"/>
            </a:srgbClr>
          </a:solidFill>
          <a:ln w="12700">
            <a:solidFill>
              <a:srgbClr val="1E408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F97316">
              <a:alpha val="30000"/>
            </a:srgbClr>
          </a:solidFill>
          <a:ln w="12700">
            <a:solidFill>
              <a:srgbClr val="F97316">
                <a:alpha val="3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144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DELAYS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26974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Causes, Impact &amp; Solutions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457200" y="3886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analysis of internal &amp; external factors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affect delivery performance and customer satisfaction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892040"/>
            <a:ext cx="82296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Operations  |  Supply Chain Management  |  Customer Experience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PICTURE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delays are one of the most damaging operational failures a business can face. They stem from two broad categories of causes — those within the business's control, and those driven by external forces.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920240"/>
            <a:ext cx="2651760" cy="2286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2402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53E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02920" y="3246120"/>
            <a:ext cx="2377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consumers are LESS likely to shop with a retailer after a late delivery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92024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920240"/>
            <a:ext cx="2651760" cy="228600"/>
          </a:xfrm>
          <a:prstGeom prst="rect">
            <a:avLst/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22402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4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337560" y="3246120"/>
            <a:ext cx="2377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never return after a single poor delivery experience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92024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920240"/>
            <a:ext cx="2651760" cy="228600"/>
          </a:xfrm>
          <a:prstGeom prst="rect">
            <a:avLst/>
          </a:prstGeom>
          <a:solidFill>
            <a:srgbClr val="2D9564"/>
          </a:solidFill>
          <a:ln w="12700">
            <a:solidFill>
              <a:srgbClr val="2D95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22402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95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172200" y="3246120"/>
            <a:ext cx="2377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supply chain disruptions originate from external, uncontrollable events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FACTORS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Business Control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371600"/>
            <a:ext cx="502920" cy="502920"/>
          </a:xfrm>
          <a:prstGeom prst="ellipse">
            <a:avLst/>
          </a:prstGeom>
          <a:solidFill>
            <a:srgbClr val="1E4080">
              <a:alpha val="85000"/>
            </a:srgbClr>
          </a:solidFill>
          <a:ln w="12700">
            <a:solidFill>
              <a:srgbClr val="1E4080">
                <a:alpha val="8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143560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28016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7280" y="160020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Stockouts, inaccurate records and overstocking create fulfillment gaps before shipment begins.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64608" y="1371600"/>
            <a:ext cx="502920" cy="502920"/>
          </a:xfrm>
          <a:prstGeom prst="ellipse">
            <a:avLst/>
          </a:prstGeom>
          <a:solidFill>
            <a:srgbClr val="E53E3E">
              <a:alpha val="85000"/>
            </a:srgbClr>
          </a:solidFill>
          <a:ln w="12700">
            <a:solidFill>
              <a:srgbClr val="E53E3E">
                <a:alpha val="8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1435608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28016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Processing Systems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486400" y="160020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workflows and outdated software create bottlenecks at picking, packing and dispatch.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65760" y="2441448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5488" y="2624328"/>
            <a:ext cx="502920" cy="502920"/>
          </a:xfrm>
          <a:prstGeom prst="ellipse">
            <a:avLst/>
          </a:prstGeom>
          <a:solidFill>
            <a:srgbClr val="2D9564">
              <a:alpha val="85000"/>
            </a:srgbClr>
          </a:solidFill>
          <a:ln w="12700">
            <a:solidFill>
              <a:srgbClr val="2D9564">
                <a:alpha val="85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2688336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280" y="253288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Planning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097280" y="285292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Understaffing during peak seasons or high turnover slows throughput and creates backlogs.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754880" y="2441448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64608" y="2624328"/>
            <a:ext cx="502920" cy="502920"/>
          </a:xfrm>
          <a:prstGeom prst="ellipse">
            <a:avLst/>
          </a:prstGeom>
          <a:solidFill>
            <a:srgbClr val="805AD5">
              <a:alpha val="85000"/>
            </a:srgbClr>
          </a:solidFill>
          <a:ln w="12700">
            <a:solidFill>
              <a:srgbClr val="805AD5">
                <a:alpha val="85000"/>
              </a:srgbClr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2688336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253288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Management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0" y="285292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Single-source reliance means any supplier hiccup directly stalls production and dispatch.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65760" y="3694176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75488" y="3877056"/>
            <a:ext cx="502920" cy="502920"/>
          </a:xfrm>
          <a:prstGeom prst="ellipse">
            <a:avLst/>
          </a:prstGeom>
          <a:solidFill>
            <a:srgbClr val="D69E2E">
              <a:alpha val="85000"/>
            </a:srgbClr>
          </a:solidFill>
          <a:ln w="12700">
            <a:solidFill>
              <a:srgbClr val="D69E2E">
                <a:alpha val="85000"/>
              </a:srgbClr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" y="3941064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97280" y="3785616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1097280" y="4105656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tracking systems, businesses can't identify delays proactively, becoming reactive.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4754880" y="3694176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864608" y="3877056"/>
            <a:ext cx="502920" cy="502920"/>
          </a:xfrm>
          <a:prstGeom prst="ellipse">
            <a:avLst/>
          </a:prstGeom>
          <a:solidFill>
            <a:srgbClr val="C05621">
              <a:alpha val="85000"/>
            </a:srgbClr>
          </a:solidFill>
          <a:ln w="12700">
            <a:solidFill>
              <a:srgbClr val="C05621">
                <a:alpha val="85000"/>
              </a:srgbClr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8616" y="3941064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486400" y="3785616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5486400" y="4105656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Late-stage QC failures force rework or replacement, restarting fulfillment timelines entirely.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FACTORS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D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Business Control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371600"/>
            <a:ext cx="502920" cy="502920"/>
          </a:xfrm>
          <a:prstGeom prst="ellipse">
            <a:avLst/>
          </a:prstGeom>
          <a:solidFill>
            <a:srgbClr val="1E4080">
              <a:alpha val="85000"/>
            </a:srgbClr>
          </a:solidFill>
          <a:ln w="12700">
            <a:solidFill>
              <a:srgbClr val="1E4080">
                <a:alpha val="8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143560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28016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&amp; Logistics Disruptions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7280" y="160020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partner breakdowns, capacity crunches and route inefficiencies beyond direct control.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64608" y="1371600"/>
            <a:ext cx="502920" cy="502920"/>
          </a:xfrm>
          <a:prstGeom prst="ellipse">
            <a:avLst/>
          </a:prstGeom>
          <a:solidFill>
            <a:srgbClr val="2D9564">
              <a:alpha val="85000"/>
            </a:srgbClr>
          </a:solidFill>
          <a:ln w="12700">
            <a:solidFill>
              <a:srgbClr val="2D9564">
                <a:alpha val="8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1435608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28016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&amp; Natural Disasters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486400" y="160020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Storms, floods and wildfires shut down highways, ports and airports in affected regions.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65760" y="2441448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5488" y="2624328"/>
            <a:ext cx="502920" cy="502920"/>
          </a:xfrm>
          <a:prstGeom prst="ellipse">
            <a:avLst/>
          </a:prstGeom>
          <a:solidFill>
            <a:srgbClr val="805AD5">
              <a:alpha val="85000"/>
            </a:srgbClr>
          </a:solidFill>
          <a:ln w="12700">
            <a:solidFill>
              <a:srgbClr val="805AD5">
                <a:alpha val="85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2688336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280" y="253288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Geopolitical Instability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097280" y="285292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Tariffs, sanctions, border closures or political unrest disrupt international supply chains.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754880" y="2441448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64608" y="2624328"/>
            <a:ext cx="502920" cy="502920"/>
          </a:xfrm>
          <a:prstGeom prst="ellipse">
            <a:avLst/>
          </a:prstGeom>
          <a:solidFill>
            <a:srgbClr val="E53E3E">
              <a:alpha val="85000"/>
            </a:srgbClr>
          </a:solidFill>
          <a:ln w="12700">
            <a:solidFill>
              <a:srgbClr val="E53E3E">
                <a:alpha val="85000"/>
              </a:srgbClr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2688336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253288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Events &amp; Pandemics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0" y="285292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crises trigger simultaneous demand surges and supply contractions, overwhelming networks.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65760" y="3694176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75488" y="3877056"/>
            <a:ext cx="502920" cy="502920"/>
          </a:xfrm>
          <a:prstGeom prst="ellipse">
            <a:avLst/>
          </a:prstGeom>
          <a:solidFill>
            <a:srgbClr val="D69E2E">
              <a:alpha val="85000"/>
            </a:srgbClr>
          </a:solidFill>
          <a:ln w="12700">
            <a:solidFill>
              <a:srgbClr val="D69E2E">
                <a:alpha val="85000"/>
              </a:srgbClr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" y="3941064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97280" y="3785616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Congestion &amp; Customs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1097280" y="4105656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Bureaucratic bottlenecks or documentation errors hold shipments for days or weeks.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4754880" y="3694176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864608" y="3877056"/>
            <a:ext cx="502920" cy="502920"/>
          </a:xfrm>
          <a:prstGeom prst="ellipse">
            <a:avLst/>
          </a:prstGeom>
          <a:solidFill>
            <a:srgbClr val="C05621">
              <a:alpha val="85000"/>
            </a:srgbClr>
          </a:solidFill>
          <a:ln w="12700">
            <a:solidFill>
              <a:srgbClr val="C05621">
                <a:alpha val="85000"/>
              </a:srgbClr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8616" y="3941064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486400" y="3785616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Price Volatility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5486400" y="4105656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fuel increases cause carriers to reduce fleet operations and extend timelines.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ON CUSTOMER SATISFACTION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delivery delays ripple across the customer relationship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0" y="1362456"/>
            <a:ext cx="4425696" cy="246888"/>
          </a:xfrm>
          <a:prstGeom prst="roundRect">
            <a:avLst>
              <a:gd name="adj" fmla="val 14815"/>
            </a:avLst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Erosion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03920" y="129844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65376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993392"/>
            <a:ext cx="3621024" cy="246888"/>
          </a:xfrm>
          <a:prstGeom prst="roundRect">
            <a:avLst>
              <a:gd name="adj" fmla="val 14815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2938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Reviews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03920" y="1929384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496312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2624328"/>
            <a:ext cx="3268980" cy="246888"/>
          </a:xfrm>
          <a:prstGeom prst="roundRect">
            <a:avLst>
              <a:gd name="adj" fmla="val 14815"/>
            </a:avLst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6032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03920" y="256032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127248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83280" y="3255264"/>
            <a:ext cx="2916936" cy="246888"/>
          </a:xfrm>
          <a:prstGeom prst="roundRect">
            <a:avLst>
              <a:gd name="adj" fmla="val 14815"/>
            </a:avLst>
          </a:prstGeom>
          <a:solidFill>
            <a:srgbClr val="2D9564"/>
          </a:solidFill>
          <a:ln w="12700">
            <a:solidFill>
              <a:srgbClr val="2D95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9125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Overload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03920" y="319125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9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758184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3280" y="3886200"/>
            <a:ext cx="2263140" cy="246888"/>
          </a:xfrm>
          <a:prstGeom prst="roundRect">
            <a:avLst>
              <a:gd name="adj" fmla="val 14815"/>
            </a:avLst>
          </a:prstGeom>
          <a:solidFill>
            <a:srgbClr val="805AD5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82219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&amp; Dispute Costs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03920" y="382219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05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389120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0" y="4517136"/>
            <a:ext cx="3922776" cy="246888"/>
          </a:xfrm>
          <a:prstGeom prst="roundRect">
            <a:avLst>
              <a:gd name="adj" fmla="val 14815"/>
            </a:avLst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4531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Repeat Business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03920" y="445312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4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Percentage indicates relative impact severity on customer satisfaction metrics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9564"/>
          </a:solidFill>
          <a:ln w="12700">
            <a:solidFill>
              <a:srgbClr val="2D95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MITIGATION STRATEGIES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280160"/>
            <a:ext cx="548640" cy="548640"/>
          </a:xfrm>
          <a:prstGeom prst="ellipse">
            <a:avLst/>
          </a:prstGeom>
          <a:solidFill>
            <a:srgbClr val="2D9564"/>
          </a:solidFill>
          <a:ln w="12700">
            <a:solidFill>
              <a:srgbClr val="2D95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8928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Suppliers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221992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single points of failure by qualifying multiple suppliers per critical category.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280160"/>
            <a:ext cx="548640" cy="548640"/>
          </a:xfrm>
          <a:prstGeom prst="ellipse">
            <a:avLst/>
          </a:prstGeom>
          <a:solidFill>
            <a:srgbClr val="2D9564"/>
          </a:solidFill>
          <a:ln w="12700">
            <a:solidFill>
              <a:srgbClr val="2D95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18928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Visibility Tools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2221992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real-time tracking and predictive analytics across the entire supply chain.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14300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280160"/>
            <a:ext cx="548640" cy="548640"/>
          </a:xfrm>
          <a:prstGeom prst="ellipse">
            <a:avLst/>
          </a:prstGeom>
          <a:solidFill>
            <a:srgbClr val="2D9564"/>
          </a:solidFill>
          <a:ln w="12700">
            <a:solidFill>
              <a:srgbClr val="2D95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72200" y="18928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Stock Buffers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2221992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buffer inventory for high-demand or critical SKUs to absorb disruption.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06324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200400"/>
            <a:ext cx="548640" cy="548640"/>
          </a:xfrm>
          <a:prstGeom prst="ellipse">
            <a:avLst/>
          </a:prstGeom>
          <a:solidFill>
            <a:srgbClr val="2D9564"/>
          </a:solidFill>
          <a:ln w="12700">
            <a:solidFill>
              <a:srgbClr val="2D95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8130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Communication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4142232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customers of delays before they ask — transparency preserves trust even when timelines slip.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306324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37560" y="3200400"/>
            <a:ext cx="548640" cy="548640"/>
          </a:xfrm>
          <a:prstGeom prst="ellipse">
            <a:avLst/>
          </a:prstGeom>
          <a:solidFill>
            <a:srgbClr val="2D9564"/>
          </a:solidFill>
          <a:ln w="12700">
            <a:solidFill>
              <a:srgbClr val="2D95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37560" y="38130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Multi-Carrier Strategy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37560" y="4142232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over-reliance on one logistics partner; maintain 2-3 carrier relationships per lane.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306324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3200400"/>
            <a:ext cx="548640" cy="548640"/>
          </a:xfrm>
          <a:prstGeom prst="ellipse">
            <a:avLst/>
          </a:prstGeom>
          <a:solidFill>
            <a:srgbClr val="2D9564"/>
          </a:solidFill>
          <a:ln w="12700">
            <a:solidFill>
              <a:srgbClr val="2D95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72200" y="38130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Planning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72200" y="4142232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and rehearse disruption protocols so teams respond fast, not from scratch.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1E4080">
              <a:alpha val="30000"/>
            </a:srgbClr>
          </a:solidFill>
          <a:ln w="12700">
            <a:solidFill>
              <a:srgbClr val="1E4080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F97316">
              <a:alpha val="25000"/>
            </a:srgbClr>
          </a:solidFill>
          <a:ln w="12700">
            <a:solidFill>
              <a:srgbClr val="F97316">
                <a:alpha val="2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8680" y="10972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reliability is a strategic priority — not just a logistics function.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10512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68680" y="1719072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factors are controllable; invest in systems, people and processes.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432304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68680" y="2340864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factors require resilience planning — diversify, buffer, and plan contingencies.</a:t>
            </a:r>
            <a:endParaRPr lang="en-US" sz="13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054096"/>
            <a:ext cx="274320" cy="2743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68680" y="2962656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trust is fragile: 69% of consumers reduce engagement after a single late delivery.</a:t>
            </a:r>
            <a:endParaRPr lang="en-US" sz="13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675888"/>
            <a:ext cx="274320" cy="2743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68680" y="358444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during delays is as important as preventing them — communicate proactively.</a:t>
            </a:r>
            <a:endParaRPr lang="en-US" sz="13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297680"/>
            <a:ext cx="274320" cy="27432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868680" y="420624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that prioritize delivery excellence consistently outperform on retention and brand equity.</a:t>
            </a:r>
            <a:endParaRPr lang="en-US" sz="1300" dirty="0"/>
          </a:p>
        </p:txBody>
      </p:sp>
      <p:sp>
        <p:nvSpPr>
          <p:cNvPr id="18" name="Shape 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0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"Businesses that treat delivery as a strategic priority outperform competitors in satisfaction, retention and equity."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Delivery Delays: Causes &amp; Customer Impact</dc:title>
  <dc:subject>PptxGenJS Presentation</dc:subject>
  <dc:creator>PptxGenJS</dc:creator>
  <cp:lastModifiedBy>PptxGenJS</cp:lastModifiedBy>
  <cp:revision>1</cp:revision>
  <dcterms:created xsi:type="dcterms:W3CDTF">2026-06-11T12:25:08Z</dcterms:created>
  <dcterms:modified xsi:type="dcterms:W3CDTF">2026-06-11T12:25:08Z</dcterms:modified>
</cp:coreProperties>
</file>