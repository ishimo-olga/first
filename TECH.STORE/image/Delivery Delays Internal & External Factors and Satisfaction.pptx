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Poppins Bold" charset="1" panose="00000800000000000000"/>
      <p:regular r:id="rId13"/>
    </p:embeddedFont>
    <p:embeddedFont>
      <p:font typeface="Poppins" charset="1" panose="00000500000000000000"/>
      <p:regular r:id="rId14"/>
    </p:embeddedFont>
    <p:embeddedFont>
      <p:font typeface="Poppins Heavy" charset="1" panose="00000A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44174" y="615425"/>
            <a:ext cx="9540566" cy="1370396"/>
            <a:chOff x="0" y="0"/>
            <a:chExt cx="2512742" cy="360927"/>
          </a:xfrm>
        </p:grpSpPr>
        <p:sp>
          <p:nvSpPr>
            <p:cNvPr name="Freeform 3" id="3"/>
            <p:cNvSpPr/>
            <p:nvPr/>
          </p:nvSpPr>
          <p:spPr>
            <a:xfrm flipH="false" flipV="false" rot="0">
              <a:off x="0" y="0"/>
              <a:ext cx="2512742" cy="360927"/>
            </a:xfrm>
            <a:custGeom>
              <a:avLst/>
              <a:gdLst/>
              <a:ahLst/>
              <a:cxnLst/>
              <a:rect r="r" b="b" t="t" l="l"/>
              <a:pathLst>
                <a:path h="360927" w="2512742">
                  <a:moveTo>
                    <a:pt x="32459" y="0"/>
                  </a:moveTo>
                  <a:lnTo>
                    <a:pt x="2480283" y="0"/>
                  </a:lnTo>
                  <a:cubicBezTo>
                    <a:pt x="2488891" y="0"/>
                    <a:pt x="2497148" y="3420"/>
                    <a:pt x="2503235" y="9507"/>
                  </a:cubicBezTo>
                  <a:cubicBezTo>
                    <a:pt x="2509322" y="15594"/>
                    <a:pt x="2512742" y="23850"/>
                    <a:pt x="2512742" y="32459"/>
                  </a:cubicBezTo>
                  <a:lnTo>
                    <a:pt x="2512742" y="328468"/>
                  </a:lnTo>
                  <a:cubicBezTo>
                    <a:pt x="2512742" y="337077"/>
                    <a:pt x="2509322" y="345333"/>
                    <a:pt x="2503235" y="351420"/>
                  </a:cubicBezTo>
                  <a:cubicBezTo>
                    <a:pt x="2497148" y="357507"/>
                    <a:pt x="2488891" y="360927"/>
                    <a:pt x="2480283" y="360927"/>
                  </a:cubicBezTo>
                  <a:lnTo>
                    <a:pt x="32459" y="360927"/>
                  </a:lnTo>
                  <a:cubicBezTo>
                    <a:pt x="23850" y="360927"/>
                    <a:pt x="15594" y="357507"/>
                    <a:pt x="9507" y="351420"/>
                  </a:cubicBezTo>
                  <a:cubicBezTo>
                    <a:pt x="3420" y="345333"/>
                    <a:pt x="0" y="337077"/>
                    <a:pt x="0" y="328468"/>
                  </a:cubicBezTo>
                  <a:lnTo>
                    <a:pt x="0" y="32459"/>
                  </a:lnTo>
                  <a:cubicBezTo>
                    <a:pt x="0" y="23850"/>
                    <a:pt x="3420" y="15594"/>
                    <a:pt x="9507" y="9507"/>
                  </a:cubicBezTo>
                  <a:cubicBezTo>
                    <a:pt x="15594" y="3420"/>
                    <a:pt x="23850" y="0"/>
                    <a:pt x="32459" y="0"/>
                  </a:cubicBezTo>
                  <a:close/>
                </a:path>
              </a:pathLst>
            </a:custGeom>
            <a:solidFill>
              <a:srgbClr val="EF5026"/>
            </a:solidFill>
          </p:spPr>
        </p:sp>
        <p:sp>
          <p:nvSpPr>
            <p:cNvPr name="TextBox 4" id="4"/>
            <p:cNvSpPr txBox="true"/>
            <p:nvPr/>
          </p:nvSpPr>
          <p:spPr>
            <a:xfrm>
              <a:off x="0" y="-57150"/>
              <a:ext cx="2512742" cy="418077"/>
            </a:xfrm>
            <a:prstGeom prst="rect">
              <a:avLst/>
            </a:prstGeom>
          </p:spPr>
          <p:txBody>
            <a:bodyPr anchor="ctr" rtlCol="false" tIns="50800" lIns="50800" bIns="50800" rIns="50800"/>
            <a:lstStyle/>
            <a:p>
              <a:pPr algn="ctr" marL="0" indent="0" lvl="0">
                <a:lnSpc>
                  <a:spcPts val="2871"/>
                </a:lnSpc>
              </a:pPr>
            </a:p>
          </p:txBody>
        </p:sp>
      </p:grpSp>
      <p:sp>
        <p:nvSpPr>
          <p:cNvPr name="Freeform 5" id="5"/>
          <p:cNvSpPr/>
          <p:nvPr/>
        </p:nvSpPr>
        <p:spPr>
          <a:xfrm flipH="false" flipV="false" rot="0">
            <a:off x="16518415" y="979562"/>
            <a:ext cx="750613" cy="626015"/>
          </a:xfrm>
          <a:custGeom>
            <a:avLst/>
            <a:gdLst/>
            <a:ahLst/>
            <a:cxnLst/>
            <a:rect r="r" b="b" t="t" l="l"/>
            <a:pathLst>
              <a:path h="626015" w="750613">
                <a:moveTo>
                  <a:pt x="0" y="0"/>
                </a:moveTo>
                <a:lnTo>
                  <a:pt x="750613" y="0"/>
                </a:lnTo>
                <a:lnTo>
                  <a:pt x="750613" y="626015"/>
                </a:lnTo>
                <a:lnTo>
                  <a:pt x="0" y="626015"/>
                </a:lnTo>
                <a:lnTo>
                  <a:pt x="0" y="0"/>
                </a:lnTo>
                <a:close/>
              </a:path>
            </a:pathLst>
          </a:custGeom>
          <a:blipFill>
            <a:blip r:embed="rId2">
              <a:extLst>
                <a:ext uri="{96DAC541-7B7A-43D3-8B79-37D633B846F1}">
                  <asvg:svgBlip xmlns:asvg="http://schemas.microsoft.com/office/drawing/2016/SVG/main" r:embed="rId3"/>
                </a:ext>
              </a:extLst>
            </a:blip>
            <a:stretch>
              <a:fillRect l="-285065" t="0" r="0" b="-72930"/>
            </a:stretch>
          </a:blipFill>
        </p:spPr>
      </p:sp>
      <p:grpSp>
        <p:nvGrpSpPr>
          <p:cNvPr name="Group 6" id="6"/>
          <p:cNvGrpSpPr/>
          <p:nvPr/>
        </p:nvGrpSpPr>
        <p:grpSpPr>
          <a:xfrm rot="0">
            <a:off x="9944129" y="8236273"/>
            <a:ext cx="7315171" cy="1022027"/>
            <a:chOff x="0" y="0"/>
            <a:chExt cx="1926629" cy="269176"/>
          </a:xfrm>
        </p:grpSpPr>
        <p:sp>
          <p:nvSpPr>
            <p:cNvPr name="Freeform 7" id="7"/>
            <p:cNvSpPr/>
            <p:nvPr/>
          </p:nvSpPr>
          <p:spPr>
            <a:xfrm flipH="false" flipV="false" rot="0">
              <a:off x="0" y="0"/>
              <a:ext cx="1926629" cy="269176"/>
            </a:xfrm>
            <a:custGeom>
              <a:avLst/>
              <a:gdLst/>
              <a:ahLst/>
              <a:cxnLst/>
              <a:rect r="r" b="b" t="t" l="l"/>
              <a:pathLst>
                <a:path h="269176" w="1926629">
                  <a:moveTo>
                    <a:pt x="42333" y="0"/>
                  </a:moveTo>
                  <a:lnTo>
                    <a:pt x="1884296" y="0"/>
                  </a:lnTo>
                  <a:cubicBezTo>
                    <a:pt x="1907676" y="0"/>
                    <a:pt x="1926629" y="18953"/>
                    <a:pt x="1926629" y="42333"/>
                  </a:cubicBezTo>
                  <a:lnTo>
                    <a:pt x="1926629" y="226842"/>
                  </a:lnTo>
                  <a:cubicBezTo>
                    <a:pt x="1926629" y="238070"/>
                    <a:pt x="1922169" y="248838"/>
                    <a:pt x="1914230" y="256777"/>
                  </a:cubicBezTo>
                  <a:cubicBezTo>
                    <a:pt x="1906291" y="264716"/>
                    <a:pt x="1895523" y="269176"/>
                    <a:pt x="1884296" y="269176"/>
                  </a:cubicBezTo>
                  <a:lnTo>
                    <a:pt x="42333" y="269176"/>
                  </a:lnTo>
                  <a:cubicBezTo>
                    <a:pt x="31106" y="269176"/>
                    <a:pt x="20338" y="264716"/>
                    <a:pt x="12399" y="256777"/>
                  </a:cubicBezTo>
                  <a:cubicBezTo>
                    <a:pt x="4460" y="248838"/>
                    <a:pt x="0" y="238070"/>
                    <a:pt x="0" y="226842"/>
                  </a:cubicBezTo>
                  <a:lnTo>
                    <a:pt x="0" y="42333"/>
                  </a:lnTo>
                  <a:cubicBezTo>
                    <a:pt x="0" y="31106"/>
                    <a:pt x="4460" y="20338"/>
                    <a:pt x="12399" y="12399"/>
                  </a:cubicBezTo>
                  <a:cubicBezTo>
                    <a:pt x="20338" y="4460"/>
                    <a:pt x="31106" y="0"/>
                    <a:pt x="42333" y="0"/>
                  </a:cubicBezTo>
                  <a:close/>
                </a:path>
              </a:pathLst>
            </a:custGeom>
            <a:solidFill>
              <a:srgbClr val="EF5026"/>
            </a:solidFill>
          </p:spPr>
        </p:sp>
        <p:sp>
          <p:nvSpPr>
            <p:cNvPr name="TextBox 8" id="8"/>
            <p:cNvSpPr txBox="true"/>
            <p:nvPr/>
          </p:nvSpPr>
          <p:spPr>
            <a:xfrm>
              <a:off x="0" y="-57150"/>
              <a:ext cx="1926629" cy="326326"/>
            </a:xfrm>
            <a:prstGeom prst="rect">
              <a:avLst/>
            </a:prstGeom>
          </p:spPr>
          <p:txBody>
            <a:bodyPr anchor="ctr" rtlCol="false" tIns="50800" lIns="50800" bIns="50800" rIns="50800"/>
            <a:lstStyle/>
            <a:p>
              <a:pPr algn="ctr" marL="0" indent="0" lvl="0">
                <a:lnSpc>
                  <a:spcPts val="2871"/>
                </a:lnSpc>
              </a:pPr>
            </a:p>
          </p:txBody>
        </p:sp>
      </p:grpSp>
      <p:sp>
        <p:nvSpPr>
          <p:cNvPr name="Freeform 9" id="9"/>
          <p:cNvSpPr/>
          <p:nvPr/>
        </p:nvSpPr>
        <p:spPr>
          <a:xfrm flipH="false" flipV="false" rot="0">
            <a:off x="10134629" y="8354537"/>
            <a:ext cx="785499" cy="785499"/>
          </a:xfrm>
          <a:custGeom>
            <a:avLst/>
            <a:gdLst/>
            <a:ahLst/>
            <a:cxnLst/>
            <a:rect r="r" b="b" t="t" l="l"/>
            <a:pathLst>
              <a:path h="785499" w="785499">
                <a:moveTo>
                  <a:pt x="0" y="0"/>
                </a:moveTo>
                <a:lnTo>
                  <a:pt x="785499" y="0"/>
                </a:lnTo>
                <a:lnTo>
                  <a:pt x="785499" y="785499"/>
                </a:lnTo>
                <a:lnTo>
                  <a:pt x="0" y="7854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27292" y="8619148"/>
            <a:ext cx="344885" cy="344885"/>
          </a:xfrm>
          <a:custGeom>
            <a:avLst/>
            <a:gdLst/>
            <a:ahLst/>
            <a:cxnLst/>
            <a:rect r="r" b="b" t="t" l="l"/>
            <a:pathLst>
              <a:path h="344885" w="344885">
                <a:moveTo>
                  <a:pt x="0" y="0"/>
                </a:moveTo>
                <a:lnTo>
                  <a:pt x="344885" y="0"/>
                </a:lnTo>
                <a:lnTo>
                  <a:pt x="344885" y="344885"/>
                </a:lnTo>
                <a:lnTo>
                  <a:pt x="0" y="344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5222518" y="8592364"/>
            <a:ext cx="344885" cy="344885"/>
          </a:xfrm>
          <a:custGeom>
            <a:avLst/>
            <a:gdLst/>
            <a:ahLst/>
            <a:cxnLst/>
            <a:rect r="r" b="b" t="t" l="l"/>
            <a:pathLst>
              <a:path h="344885" w="344885">
                <a:moveTo>
                  <a:pt x="0" y="0"/>
                </a:moveTo>
                <a:lnTo>
                  <a:pt x="344885" y="0"/>
                </a:lnTo>
                <a:lnTo>
                  <a:pt x="344885" y="344885"/>
                </a:lnTo>
                <a:lnTo>
                  <a:pt x="0" y="3448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2" id="12"/>
          <p:cNvGrpSpPr/>
          <p:nvPr/>
        </p:nvGrpSpPr>
        <p:grpSpPr>
          <a:xfrm rot="0">
            <a:off x="4406883" y="8531752"/>
            <a:ext cx="52185" cy="484639"/>
            <a:chOff x="0" y="0"/>
            <a:chExt cx="13744" cy="127641"/>
          </a:xfrm>
        </p:grpSpPr>
        <p:sp>
          <p:nvSpPr>
            <p:cNvPr name="Freeform 13" id="13"/>
            <p:cNvSpPr/>
            <p:nvPr/>
          </p:nvSpPr>
          <p:spPr>
            <a:xfrm flipH="false" flipV="false" rot="0">
              <a:off x="0" y="0"/>
              <a:ext cx="13744" cy="127641"/>
            </a:xfrm>
            <a:custGeom>
              <a:avLst/>
              <a:gdLst/>
              <a:ahLst/>
              <a:cxnLst/>
              <a:rect r="r" b="b" t="t" l="l"/>
              <a:pathLst>
                <a:path h="127641" w="13744">
                  <a:moveTo>
                    <a:pt x="0" y="0"/>
                  </a:moveTo>
                  <a:lnTo>
                    <a:pt x="13744" y="0"/>
                  </a:lnTo>
                  <a:lnTo>
                    <a:pt x="13744" y="127641"/>
                  </a:lnTo>
                  <a:lnTo>
                    <a:pt x="0" y="127641"/>
                  </a:lnTo>
                  <a:close/>
                </a:path>
              </a:pathLst>
            </a:custGeom>
            <a:solidFill>
              <a:srgbClr val="EF5026"/>
            </a:solidFill>
          </p:spPr>
        </p:sp>
        <p:sp>
          <p:nvSpPr>
            <p:cNvPr name="TextBox 14" id="14"/>
            <p:cNvSpPr txBox="true"/>
            <p:nvPr/>
          </p:nvSpPr>
          <p:spPr>
            <a:xfrm>
              <a:off x="0" y="-57150"/>
              <a:ext cx="13744" cy="184791"/>
            </a:xfrm>
            <a:prstGeom prst="rect">
              <a:avLst/>
            </a:prstGeom>
          </p:spPr>
          <p:txBody>
            <a:bodyPr anchor="ctr" rtlCol="false" tIns="50800" lIns="50800" bIns="50800" rIns="50800"/>
            <a:lstStyle/>
            <a:p>
              <a:pPr algn="ctr" marL="0" indent="0" lvl="0">
                <a:lnSpc>
                  <a:spcPts val="2871"/>
                </a:lnSpc>
              </a:pPr>
            </a:p>
          </p:txBody>
        </p:sp>
      </p:grpSp>
      <p:sp>
        <p:nvSpPr>
          <p:cNvPr name="TextBox 15" id="15"/>
          <p:cNvSpPr txBox="true"/>
          <p:nvPr/>
        </p:nvSpPr>
        <p:spPr>
          <a:xfrm rot="0">
            <a:off x="4654435" y="1129447"/>
            <a:ext cx="1662550" cy="207645"/>
          </a:xfrm>
          <a:prstGeom prst="rect">
            <a:avLst/>
          </a:prstGeom>
        </p:spPr>
        <p:txBody>
          <a:bodyPr anchor="t" rtlCol="false" tIns="0" lIns="0" bIns="0" rIns="0">
            <a:spAutoFit/>
          </a:bodyPr>
          <a:lstStyle/>
          <a:p>
            <a:pPr algn="ctr" marL="0" indent="0" lvl="0">
              <a:lnSpc>
                <a:spcPts val="1679"/>
              </a:lnSpc>
              <a:spcBef>
                <a:spcPct val="0"/>
              </a:spcBef>
            </a:pPr>
            <a:r>
              <a:rPr lang="en-US" b="true" sz="1200" spc="2">
                <a:solidFill>
                  <a:srgbClr val="FFFFFF"/>
                </a:solidFill>
                <a:latin typeface="Poppins Bold"/>
                <a:ea typeface="Poppins Bold"/>
                <a:cs typeface="Poppins Bold"/>
                <a:sym typeface="Poppins Bold"/>
              </a:rPr>
              <a:t>Home</a:t>
            </a:r>
          </a:p>
        </p:txBody>
      </p:sp>
      <p:sp>
        <p:nvSpPr>
          <p:cNvPr name="TextBox 16" id="16"/>
          <p:cNvSpPr txBox="true"/>
          <p:nvPr/>
        </p:nvSpPr>
        <p:spPr>
          <a:xfrm rot="0">
            <a:off x="6918558" y="1131660"/>
            <a:ext cx="1907082" cy="207645"/>
          </a:xfrm>
          <a:prstGeom prst="rect">
            <a:avLst/>
          </a:prstGeom>
        </p:spPr>
        <p:txBody>
          <a:bodyPr anchor="t" rtlCol="false" tIns="0" lIns="0" bIns="0" rIns="0">
            <a:spAutoFit/>
          </a:bodyPr>
          <a:lstStyle/>
          <a:p>
            <a:pPr algn="ctr" marL="0" indent="0" lvl="0">
              <a:lnSpc>
                <a:spcPts val="1679"/>
              </a:lnSpc>
              <a:spcBef>
                <a:spcPct val="0"/>
              </a:spcBef>
            </a:pPr>
            <a:r>
              <a:rPr lang="en-US" sz="1200" spc="2">
                <a:solidFill>
                  <a:srgbClr val="FFFFFF"/>
                </a:solidFill>
                <a:latin typeface="Poppins"/>
                <a:ea typeface="Poppins"/>
                <a:cs typeface="Poppins"/>
                <a:sym typeface="Poppins"/>
              </a:rPr>
              <a:t>About</a:t>
            </a:r>
          </a:p>
        </p:txBody>
      </p:sp>
      <p:sp>
        <p:nvSpPr>
          <p:cNvPr name="TextBox 17" id="17"/>
          <p:cNvSpPr txBox="true"/>
          <p:nvPr/>
        </p:nvSpPr>
        <p:spPr>
          <a:xfrm rot="0">
            <a:off x="9626180" y="1131660"/>
            <a:ext cx="1589190" cy="207645"/>
          </a:xfrm>
          <a:prstGeom prst="rect">
            <a:avLst/>
          </a:prstGeom>
        </p:spPr>
        <p:txBody>
          <a:bodyPr anchor="t" rtlCol="false" tIns="0" lIns="0" bIns="0" rIns="0">
            <a:spAutoFit/>
          </a:bodyPr>
          <a:lstStyle/>
          <a:p>
            <a:pPr algn="ctr" marL="0" indent="0" lvl="0">
              <a:lnSpc>
                <a:spcPts val="1679"/>
              </a:lnSpc>
              <a:spcBef>
                <a:spcPct val="0"/>
              </a:spcBef>
            </a:pPr>
            <a:r>
              <a:rPr lang="en-US" sz="1200" spc="2">
                <a:solidFill>
                  <a:srgbClr val="FFFFFF"/>
                </a:solidFill>
                <a:latin typeface="Poppins"/>
                <a:ea typeface="Poppins"/>
                <a:cs typeface="Poppins"/>
                <a:sym typeface="Poppins"/>
              </a:rPr>
              <a:t>Content</a:t>
            </a:r>
          </a:p>
        </p:txBody>
      </p:sp>
      <p:sp>
        <p:nvSpPr>
          <p:cNvPr name="TextBox 18" id="18"/>
          <p:cNvSpPr txBox="true"/>
          <p:nvPr/>
        </p:nvSpPr>
        <p:spPr>
          <a:xfrm rot="0">
            <a:off x="11559765" y="1129447"/>
            <a:ext cx="2224975" cy="207645"/>
          </a:xfrm>
          <a:prstGeom prst="rect">
            <a:avLst/>
          </a:prstGeom>
        </p:spPr>
        <p:txBody>
          <a:bodyPr anchor="t" rtlCol="false" tIns="0" lIns="0" bIns="0" rIns="0">
            <a:spAutoFit/>
          </a:bodyPr>
          <a:lstStyle/>
          <a:p>
            <a:pPr algn="ctr" marL="0" indent="0" lvl="0">
              <a:lnSpc>
                <a:spcPts val="1679"/>
              </a:lnSpc>
              <a:spcBef>
                <a:spcPct val="0"/>
              </a:spcBef>
            </a:pPr>
            <a:r>
              <a:rPr lang="en-US" sz="1200" spc="2">
                <a:solidFill>
                  <a:srgbClr val="FFFFFF"/>
                </a:solidFill>
                <a:latin typeface="Poppins"/>
                <a:ea typeface="Poppins"/>
                <a:cs typeface="Poppins"/>
                <a:sym typeface="Poppins"/>
              </a:rPr>
              <a:t>Others</a:t>
            </a:r>
          </a:p>
        </p:txBody>
      </p:sp>
      <p:sp>
        <p:nvSpPr>
          <p:cNvPr name="TextBox 19" id="19"/>
          <p:cNvSpPr txBox="true"/>
          <p:nvPr/>
        </p:nvSpPr>
        <p:spPr>
          <a:xfrm rot="0">
            <a:off x="1028700" y="871921"/>
            <a:ext cx="1761862" cy="216359"/>
          </a:xfrm>
          <a:prstGeom prst="rect">
            <a:avLst/>
          </a:prstGeom>
        </p:spPr>
        <p:txBody>
          <a:bodyPr anchor="t" rtlCol="false" tIns="0" lIns="0" bIns="0" rIns="0">
            <a:spAutoFit/>
          </a:bodyPr>
          <a:lstStyle/>
          <a:p>
            <a:pPr algn="l" marL="0" indent="0" lvl="0">
              <a:lnSpc>
                <a:spcPts val="1724"/>
              </a:lnSpc>
              <a:spcBef>
                <a:spcPct val="0"/>
              </a:spcBef>
            </a:pPr>
            <a:r>
              <a:rPr lang="en-US" b="true" sz="1231" spc="2">
                <a:solidFill>
                  <a:srgbClr val="020F8D"/>
                </a:solidFill>
                <a:latin typeface="Poppins Heavy"/>
                <a:ea typeface="Poppins Heavy"/>
                <a:cs typeface="Poppins Heavy"/>
                <a:sym typeface="Poppins Heavy"/>
              </a:rPr>
              <a:t>Thynk</a:t>
            </a:r>
          </a:p>
        </p:txBody>
      </p:sp>
      <p:sp>
        <p:nvSpPr>
          <p:cNvPr name="TextBox 20" id="20"/>
          <p:cNvSpPr txBox="true"/>
          <p:nvPr/>
        </p:nvSpPr>
        <p:spPr>
          <a:xfrm rot="0">
            <a:off x="1028700" y="1192982"/>
            <a:ext cx="1761862" cy="216359"/>
          </a:xfrm>
          <a:prstGeom prst="rect">
            <a:avLst/>
          </a:prstGeom>
        </p:spPr>
        <p:txBody>
          <a:bodyPr anchor="t" rtlCol="false" tIns="0" lIns="0" bIns="0" rIns="0">
            <a:spAutoFit/>
          </a:bodyPr>
          <a:lstStyle/>
          <a:p>
            <a:pPr algn="l" marL="0" indent="0" lvl="0">
              <a:lnSpc>
                <a:spcPts val="1724"/>
              </a:lnSpc>
              <a:spcBef>
                <a:spcPct val="0"/>
              </a:spcBef>
            </a:pPr>
            <a:r>
              <a:rPr lang="en-US" sz="1231" spc="2">
                <a:solidFill>
                  <a:srgbClr val="020F8D"/>
                </a:solidFill>
                <a:latin typeface="Poppins"/>
                <a:ea typeface="Poppins"/>
                <a:cs typeface="Poppins"/>
                <a:sym typeface="Poppins"/>
              </a:rPr>
              <a:t>Unlimited.</a:t>
            </a:r>
          </a:p>
        </p:txBody>
      </p:sp>
      <p:sp>
        <p:nvSpPr>
          <p:cNvPr name="TextBox 21" id="21"/>
          <p:cNvSpPr txBox="true"/>
          <p:nvPr/>
        </p:nvSpPr>
        <p:spPr>
          <a:xfrm rot="0">
            <a:off x="5140960" y="3478765"/>
            <a:ext cx="8006080" cy="518182"/>
          </a:xfrm>
          <a:prstGeom prst="rect">
            <a:avLst/>
          </a:prstGeom>
        </p:spPr>
        <p:txBody>
          <a:bodyPr anchor="t" rtlCol="false" tIns="0" lIns="0" bIns="0" rIns="0">
            <a:spAutoFit/>
          </a:bodyPr>
          <a:lstStyle/>
          <a:p>
            <a:pPr algn="ctr" marL="0" indent="0" lvl="0">
              <a:lnSpc>
                <a:spcPts val="3988"/>
              </a:lnSpc>
              <a:spcBef>
                <a:spcPct val="0"/>
              </a:spcBef>
            </a:pPr>
            <a:r>
              <a:rPr lang="en-US" sz="2849" spc="-94">
                <a:solidFill>
                  <a:srgbClr val="020F8D"/>
                </a:solidFill>
                <a:latin typeface="Poppins"/>
                <a:ea typeface="Poppins"/>
                <a:cs typeface="Poppins"/>
                <a:sym typeface="Poppins"/>
              </a:rPr>
              <a:t>Common Internal &amp; External Factors Leading to</a:t>
            </a:r>
          </a:p>
        </p:txBody>
      </p:sp>
      <p:sp>
        <p:nvSpPr>
          <p:cNvPr name="TextBox 22" id="22"/>
          <p:cNvSpPr txBox="true"/>
          <p:nvPr/>
        </p:nvSpPr>
        <p:spPr>
          <a:xfrm rot="0">
            <a:off x="3878376" y="4150694"/>
            <a:ext cx="10272161" cy="1336397"/>
          </a:xfrm>
          <a:prstGeom prst="rect">
            <a:avLst/>
          </a:prstGeom>
        </p:spPr>
        <p:txBody>
          <a:bodyPr anchor="t" rtlCol="false" tIns="0" lIns="0" bIns="0" rIns="0">
            <a:spAutoFit/>
          </a:bodyPr>
          <a:lstStyle/>
          <a:p>
            <a:pPr algn="ctr" marL="0" indent="0" lvl="0">
              <a:lnSpc>
                <a:spcPts val="10340"/>
              </a:lnSpc>
              <a:spcBef>
                <a:spcPct val="0"/>
              </a:spcBef>
            </a:pPr>
            <a:r>
              <a:rPr lang="en-US" b="true" sz="7385" spc="-243">
                <a:solidFill>
                  <a:srgbClr val="020F8D"/>
                </a:solidFill>
                <a:latin typeface="Poppins Bold"/>
                <a:ea typeface="Poppins Bold"/>
                <a:cs typeface="Poppins Bold"/>
                <a:sym typeface="Poppins Bold"/>
              </a:rPr>
              <a:t>Delivery Delays</a:t>
            </a:r>
          </a:p>
        </p:txBody>
      </p:sp>
      <p:sp>
        <p:nvSpPr>
          <p:cNvPr name="TextBox 23" id="23"/>
          <p:cNvSpPr txBox="true"/>
          <p:nvPr/>
        </p:nvSpPr>
        <p:spPr>
          <a:xfrm rot="0">
            <a:off x="11177303" y="8535531"/>
            <a:ext cx="5795594" cy="215795"/>
          </a:xfrm>
          <a:prstGeom prst="rect">
            <a:avLst/>
          </a:prstGeom>
        </p:spPr>
        <p:txBody>
          <a:bodyPr anchor="t" rtlCol="false" tIns="0" lIns="0" bIns="0" rIns="0">
            <a:spAutoFit/>
          </a:bodyPr>
          <a:lstStyle/>
          <a:p>
            <a:pPr algn="ctr" marL="0" indent="0" lvl="0">
              <a:lnSpc>
                <a:spcPts val="1755"/>
              </a:lnSpc>
              <a:spcBef>
                <a:spcPct val="0"/>
              </a:spcBef>
            </a:pPr>
            <a:r>
              <a:rPr lang="en-US" sz="1254" spc="2">
                <a:solidFill>
                  <a:srgbClr val="FFFFFF"/>
                </a:solidFill>
                <a:latin typeface="Poppins"/>
                <a:ea typeface="Poppins"/>
                <a:cs typeface="Poppins"/>
                <a:sym typeface="Poppins"/>
              </a:rPr>
              <a:t>Next Slide | Delivery Delays Presentation</a:t>
            </a:r>
          </a:p>
        </p:txBody>
      </p:sp>
      <p:sp>
        <p:nvSpPr>
          <p:cNvPr name="TextBox 24" id="24"/>
          <p:cNvSpPr txBox="true"/>
          <p:nvPr/>
        </p:nvSpPr>
        <p:spPr>
          <a:xfrm rot="0">
            <a:off x="1633997" y="8582318"/>
            <a:ext cx="2578665" cy="207645"/>
          </a:xfrm>
          <a:prstGeom prst="rect">
            <a:avLst/>
          </a:prstGeom>
        </p:spPr>
        <p:txBody>
          <a:bodyPr anchor="t" rtlCol="false" tIns="0" lIns="0" bIns="0" rIns="0">
            <a:spAutoFit/>
          </a:bodyPr>
          <a:lstStyle/>
          <a:p>
            <a:pPr algn="l" marL="0" indent="0" lvl="0">
              <a:lnSpc>
                <a:spcPts val="1679"/>
              </a:lnSpc>
              <a:spcBef>
                <a:spcPct val="0"/>
              </a:spcBef>
            </a:pPr>
            <a:r>
              <a:rPr lang="en-US" sz="1200" spc="2">
                <a:solidFill>
                  <a:srgbClr val="020F8D"/>
                </a:solidFill>
                <a:latin typeface="Poppins"/>
                <a:ea typeface="Poppins"/>
                <a:cs typeface="Poppins"/>
                <a:sym typeface="Poppins"/>
              </a:rPr>
              <a:t>+123-456-789</a:t>
            </a:r>
          </a:p>
        </p:txBody>
      </p:sp>
      <p:sp>
        <p:nvSpPr>
          <p:cNvPr name="TextBox 25" id="25"/>
          <p:cNvSpPr txBox="true"/>
          <p:nvPr/>
        </p:nvSpPr>
        <p:spPr>
          <a:xfrm rot="0">
            <a:off x="5751160" y="8563789"/>
            <a:ext cx="4192969" cy="207645"/>
          </a:xfrm>
          <a:prstGeom prst="rect">
            <a:avLst/>
          </a:prstGeom>
        </p:spPr>
        <p:txBody>
          <a:bodyPr anchor="t" rtlCol="false" tIns="0" lIns="0" bIns="0" rIns="0">
            <a:spAutoFit/>
          </a:bodyPr>
          <a:lstStyle/>
          <a:p>
            <a:pPr algn="l" marL="0" indent="0" lvl="0">
              <a:lnSpc>
                <a:spcPts val="1679"/>
              </a:lnSpc>
              <a:spcBef>
                <a:spcPct val="0"/>
              </a:spcBef>
            </a:pPr>
            <a:r>
              <a:rPr lang="en-US" sz="1200" spc="2">
                <a:solidFill>
                  <a:srgbClr val="020F8D"/>
                </a:solidFill>
                <a:latin typeface="Poppins"/>
                <a:ea typeface="Poppins"/>
                <a:cs typeface="Poppins"/>
                <a:sym typeface="Poppins"/>
              </a:rPr>
              <a:t>www.reallygreatsite.com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44174" y="615425"/>
            <a:ext cx="9540566" cy="1370396"/>
            <a:chOff x="0" y="0"/>
            <a:chExt cx="2512742" cy="360927"/>
          </a:xfrm>
        </p:grpSpPr>
        <p:sp>
          <p:nvSpPr>
            <p:cNvPr name="Freeform 3" id="3"/>
            <p:cNvSpPr/>
            <p:nvPr/>
          </p:nvSpPr>
          <p:spPr>
            <a:xfrm flipH="false" flipV="false" rot="0">
              <a:off x="0" y="0"/>
              <a:ext cx="2512742" cy="360927"/>
            </a:xfrm>
            <a:custGeom>
              <a:avLst/>
              <a:gdLst/>
              <a:ahLst/>
              <a:cxnLst/>
              <a:rect r="r" b="b" t="t" l="l"/>
              <a:pathLst>
                <a:path h="360927" w="2512742">
                  <a:moveTo>
                    <a:pt x="32459" y="0"/>
                  </a:moveTo>
                  <a:lnTo>
                    <a:pt x="2480283" y="0"/>
                  </a:lnTo>
                  <a:cubicBezTo>
                    <a:pt x="2488891" y="0"/>
                    <a:pt x="2497148" y="3420"/>
                    <a:pt x="2503235" y="9507"/>
                  </a:cubicBezTo>
                  <a:cubicBezTo>
                    <a:pt x="2509322" y="15594"/>
                    <a:pt x="2512742" y="23850"/>
                    <a:pt x="2512742" y="32459"/>
                  </a:cubicBezTo>
                  <a:lnTo>
                    <a:pt x="2512742" y="328468"/>
                  </a:lnTo>
                  <a:cubicBezTo>
                    <a:pt x="2512742" y="337077"/>
                    <a:pt x="2509322" y="345333"/>
                    <a:pt x="2503235" y="351420"/>
                  </a:cubicBezTo>
                  <a:cubicBezTo>
                    <a:pt x="2497148" y="357507"/>
                    <a:pt x="2488891" y="360927"/>
                    <a:pt x="2480283" y="360927"/>
                  </a:cubicBezTo>
                  <a:lnTo>
                    <a:pt x="32459" y="360927"/>
                  </a:lnTo>
                  <a:cubicBezTo>
                    <a:pt x="23850" y="360927"/>
                    <a:pt x="15594" y="357507"/>
                    <a:pt x="9507" y="351420"/>
                  </a:cubicBezTo>
                  <a:cubicBezTo>
                    <a:pt x="3420" y="345333"/>
                    <a:pt x="0" y="337077"/>
                    <a:pt x="0" y="328468"/>
                  </a:cubicBezTo>
                  <a:lnTo>
                    <a:pt x="0" y="32459"/>
                  </a:lnTo>
                  <a:cubicBezTo>
                    <a:pt x="0" y="23850"/>
                    <a:pt x="3420" y="15594"/>
                    <a:pt x="9507" y="9507"/>
                  </a:cubicBezTo>
                  <a:cubicBezTo>
                    <a:pt x="15594" y="3420"/>
                    <a:pt x="23850" y="0"/>
                    <a:pt x="32459" y="0"/>
                  </a:cubicBezTo>
                  <a:close/>
                </a:path>
              </a:pathLst>
            </a:custGeom>
            <a:solidFill>
              <a:srgbClr val="EF5026"/>
            </a:solidFill>
          </p:spPr>
        </p:sp>
        <p:sp>
          <p:nvSpPr>
            <p:cNvPr name="TextBox 4" id="4"/>
            <p:cNvSpPr txBox="true"/>
            <p:nvPr/>
          </p:nvSpPr>
          <p:spPr>
            <a:xfrm>
              <a:off x="0" y="-57150"/>
              <a:ext cx="2512742" cy="418077"/>
            </a:xfrm>
            <a:prstGeom prst="rect">
              <a:avLst/>
            </a:prstGeom>
          </p:spPr>
          <p:txBody>
            <a:bodyPr anchor="ctr" rtlCol="false" tIns="50800" lIns="50800" bIns="50800" rIns="50800"/>
            <a:lstStyle/>
            <a:p>
              <a:pPr algn="ctr" marL="0" indent="0" lvl="0">
                <a:lnSpc>
                  <a:spcPts val="2871"/>
                </a:lnSpc>
              </a:pPr>
            </a:p>
          </p:txBody>
        </p:sp>
      </p:grpSp>
      <p:sp>
        <p:nvSpPr>
          <p:cNvPr name="Freeform 5" id="5"/>
          <p:cNvSpPr/>
          <p:nvPr/>
        </p:nvSpPr>
        <p:spPr>
          <a:xfrm flipH="false" flipV="false" rot="0">
            <a:off x="16526543" y="948741"/>
            <a:ext cx="740820" cy="673872"/>
          </a:xfrm>
          <a:custGeom>
            <a:avLst/>
            <a:gdLst/>
            <a:ahLst/>
            <a:cxnLst/>
            <a:rect r="r" b="b" t="t" l="l"/>
            <a:pathLst>
              <a:path h="673872" w="740820">
                <a:moveTo>
                  <a:pt x="0" y="0"/>
                </a:moveTo>
                <a:lnTo>
                  <a:pt x="740820" y="0"/>
                </a:lnTo>
                <a:lnTo>
                  <a:pt x="740820" y="673871"/>
                </a:lnTo>
                <a:lnTo>
                  <a:pt x="0" y="673871"/>
                </a:lnTo>
                <a:lnTo>
                  <a:pt x="0" y="0"/>
                </a:lnTo>
                <a:close/>
              </a:path>
            </a:pathLst>
          </a:custGeom>
          <a:blipFill>
            <a:blip r:embed="rId2"/>
            <a:stretch>
              <a:fillRect l="0" t="0" r="0" b="0"/>
            </a:stretch>
          </a:blipFill>
        </p:spPr>
      </p:sp>
      <p:grpSp>
        <p:nvGrpSpPr>
          <p:cNvPr name="Group 6" id="6"/>
          <p:cNvGrpSpPr/>
          <p:nvPr/>
        </p:nvGrpSpPr>
        <p:grpSpPr>
          <a:xfrm rot="0">
            <a:off x="1028700" y="2548139"/>
            <a:ext cx="16230600" cy="6710161"/>
            <a:chOff x="0" y="0"/>
            <a:chExt cx="4274726" cy="1767285"/>
          </a:xfrm>
        </p:grpSpPr>
        <p:sp>
          <p:nvSpPr>
            <p:cNvPr name="Freeform 7" id="7"/>
            <p:cNvSpPr/>
            <p:nvPr/>
          </p:nvSpPr>
          <p:spPr>
            <a:xfrm flipH="false" flipV="false" rot="0">
              <a:off x="0" y="0"/>
              <a:ext cx="4274726" cy="1767285"/>
            </a:xfrm>
            <a:custGeom>
              <a:avLst/>
              <a:gdLst/>
              <a:ahLst/>
              <a:cxnLst/>
              <a:rect r="r" b="b" t="t" l="l"/>
              <a:pathLst>
                <a:path h="1767285" w="4274726">
                  <a:moveTo>
                    <a:pt x="19080" y="0"/>
                  </a:moveTo>
                  <a:lnTo>
                    <a:pt x="4255646" y="0"/>
                  </a:lnTo>
                  <a:cubicBezTo>
                    <a:pt x="4266183" y="0"/>
                    <a:pt x="4274726" y="8542"/>
                    <a:pt x="4274726" y="19080"/>
                  </a:cubicBezTo>
                  <a:lnTo>
                    <a:pt x="4274726" y="1748205"/>
                  </a:lnTo>
                  <a:cubicBezTo>
                    <a:pt x="4274726" y="1753266"/>
                    <a:pt x="4272716" y="1758119"/>
                    <a:pt x="4269137" y="1761697"/>
                  </a:cubicBezTo>
                  <a:cubicBezTo>
                    <a:pt x="4265559" y="1765275"/>
                    <a:pt x="4260706" y="1767285"/>
                    <a:pt x="4255646" y="1767285"/>
                  </a:cubicBezTo>
                  <a:lnTo>
                    <a:pt x="19080" y="1767285"/>
                  </a:lnTo>
                  <a:cubicBezTo>
                    <a:pt x="8542" y="1767285"/>
                    <a:pt x="0" y="1758743"/>
                    <a:pt x="0" y="1748205"/>
                  </a:cubicBezTo>
                  <a:lnTo>
                    <a:pt x="0" y="19080"/>
                  </a:lnTo>
                  <a:cubicBezTo>
                    <a:pt x="0" y="8542"/>
                    <a:pt x="8542" y="0"/>
                    <a:pt x="19080" y="0"/>
                  </a:cubicBezTo>
                  <a:close/>
                </a:path>
              </a:pathLst>
            </a:custGeom>
            <a:solidFill>
              <a:srgbClr val="020F8D"/>
            </a:solidFill>
          </p:spPr>
        </p:sp>
        <p:sp>
          <p:nvSpPr>
            <p:cNvPr name="TextBox 8" id="8"/>
            <p:cNvSpPr txBox="true"/>
            <p:nvPr/>
          </p:nvSpPr>
          <p:spPr>
            <a:xfrm>
              <a:off x="0" y="-57150"/>
              <a:ext cx="4274726" cy="1824435"/>
            </a:xfrm>
            <a:prstGeom prst="rect">
              <a:avLst/>
            </a:prstGeom>
          </p:spPr>
          <p:txBody>
            <a:bodyPr anchor="ctr" rtlCol="false" tIns="50800" lIns="50800" bIns="50800" rIns="50800"/>
            <a:lstStyle/>
            <a:p>
              <a:pPr algn="ctr" marL="0" indent="0" lvl="0">
                <a:lnSpc>
                  <a:spcPts val="2871"/>
                </a:lnSpc>
              </a:pPr>
            </a:p>
          </p:txBody>
        </p:sp>
      </p:grpSp>
      <p:grpSp>
        <p:nvGrpSpPr>
          <p:cNvPr name="Group 9" id="9"/>
          <p:cNvGrpSpPr/>
          <p:nvPr/>
        </p:nvGrpSpPr>
        <p:grpSpPr>
          <a:xfrm rot="0">
            <a:off x="1488959" y="5143500"/>
            <a:ext cx="15310082" cy="3673126"/>
            <a:chOff x="0" y="0"/>
            <a:chExt cx="4032285" cy="967408"/>
          </a:xfrm>
        </p:grpSpPr>
        <p:sp>
          <p:nvSpPr>
            <p:cNvPr name="Freeform 10" id="10"/>
            <p:cNvSpPr/>
            <p:nvPr/>
          </p:nvSpPr>
          <p:spPr>
            <a:xfrm flipH="false" flipV="false" rot="0">
              <a:off x="0" y="0"/>
              <a:ext cx="4032285" cy="967408"/>
            </a:xfrm>
            <a:custGeom>
              <a:avLst/>
              <a:gdLst/>
              <a:ahLst/>
              <a:cxnLst/>
              <a:rect r="r" b="b" t="t" l="l"/>
              <a:pathLst>
                <a:path h="967408" w="4032285">
                  <a:moveTo>
                    <a:pt x="20227" y="0"/>
                  </a:moveTo>
                  <a:lnTo>
                    <a:pt x="4012058" y="0"/>
                  </a:lnTo>
                  <a:cubicBezTo>
                    <a:pt x="4017423" y="0"/>
                    <a:pt x="4022568" y="2131"/>
                    <a:pt x="4026361" y="5924"/>
                  </a:cubicBezTo>
                  <a:cubicBezTo>
                    <a:pt x="4030154" y="9718"/>
                    <a:pt x="4032285" y="14862"/>
                    <a:pt x="4032285" y="20227"/>
                  </a:cubicBezTo>
                  <a:lnTo>
                    <a:pt x="4032285" y="947181"/>
                  </a:lnTo>
                  <a:cubicBezTo>
                    <a:pt x="4032285" y="952545"/>
                    <a:pt x="4030154" y="957690"/>
                    <a:pt x="4026361" y="961483"/>
                  </a:cubicBezTo>
                  <a:cubicBezTo>
                    <a:pt x="4022568" y="965277"/>
                    <a:pt x="4017423" y="967408"/>
                    <a:pt x="4012058" y="967408"/>
                  </a:cubicBezTo>
                  <a:lnTo>
                    <a:pt x="20227" y="967408"/>
                  </a:lnTo>
                  <a:cubicBezTo>
                    <a:pt x="14862" y="967408"/>
                    <a:pt x="9718" y="965277"/>
                    <a:pt x="5924" y="961483"/>
                  </a:cubicBezTo>
                  <a:cubicBezTo>
                    <a:pt x="2131" y="957690"/>
                    <a:pt x="0" y="952545"/>
                    <a:pt x="0" y="947181"/>
                  </a:cubicBezTo>
                  <a:lnTo>
                    <a:pt x="0" y="20227"/>
                  </a:lnTo>
                  <a:cubicBezTo>
                    <a:pt x="0" y="14862"/>
                    <a:pt x="2131" y="9718"/>
                    <a:pt x="5924" y="5924"/>
                  </a:cubicBezTo>
                  <a:cubicBezTo>
                    <a:pt x="9718" y="2131"/>
                    <a:pt x="14862" y="0"/>
                    <a:pt x="20227" y="0"/>
                  </a:cubicBezTo>
                  <a:close/>
                </a:path>
              </a:pathLst>
            </a:custGeom>
            <a:solidFill>
              <a:srgbClr val="EF5026"/>
            </a:solidFill>
          </p:spPr>
        </p:sp>
        <p:sp>
          <p:nvSpPr>
            <p:cNvPr name="TextBox 11" id="11"/>
            <p:cNvSpPr txBox="true"/>
            <p:nvPr/>
          </p:nvSpPr>
          <p:spPr>
            <a:xfrm>
              <a:off x="0" y="-57150"/>
              <a:ext cx="4032285" cy="1024558"/>
            </a:xfrm>
            <a:prstGeom prst="rect">
              <a:avLst/>
            </a:prstGeom>
          </p:spPr>
          <p:txBody>
            <a:bodyPr anchor="ctr" rtlCol="false" tIns="50800" lIns="50800" bIns="50800" rIns="50800"/>
            <a:lstStyle/>
            <a:p>
              <a:pPr algn="ctr" marL="0" indent="0" lvl="0">
                <a:lnSpc>
                  <a:spcPts val="2871"/>
                </a:lnSpc>
              </a:pPr>
            </a:p>
          </p:txBody>
        </p:sp>
      </p:grpSp>
      <p:sp>
        <p:nvSpPr>
          <p:cNvPr name="TextBox 12" id="12"/>
          <p:cNvSpPr txBox="true"/>
          <p:nvPr/>
        </p:nvSpPr>
        <p:spPr>
          <a:xfrm rot="0">
            <a:off x="4654435" y="1119922"/>
            <a:ext cx="1662550" cy="282419"/>
          </a:xfrm>
          <a:prstGeom prst="rect">
            <a:avLst/>
          </a:prstGeom>
        </p:spPr>
        <p:txBody>
          <a:bodyPr anchor="t" rtlCol="false" tIns="0" lIns="0" bIns="0" rIns="0">
            <a:spAutoFit/>
          </a:bodyPr>
          <a:lstStyle/>
          <a:p>
            <a:pPr algn="ctr" marL="0" indent="0" lvl="0">
              <a:lnSpc>
                <a:spcPts val="2283"/>
              </a:lnSpc>
              <a:spcBef>
                <a:spcPct val="0"/>
              </a:spcBef>
            </a:pPr>
            <a:r>
              <a:rPr lang="en-US" sz="1631" spc="3">
                <a:solidFill>
                  <a:srgbClr val="FFFFFF"/>
                </a:solidFill>
                <a:latin typeface="Poppins"/>
                <a:ea typeface="Poppins"/>
                <a:cs typeface="Poppins"/>
                <a:sym typeface="Poppins"/>
              </a:rPr>
              <a:t>Home</a:t>
            </a:r>
          </a:p>
        </p:txBody>
      </p:sp>
      <p:sp>
        <p:nvSpPr>
          <p:cNvPr name="TextBox 13" id="13"/>
          <p:cNvSpPr txBox="true"/>
          <p:nvPr/>
        </p:nvSpPr>
        <p:spPr>
          <a:xfrm rot="0">
            <a:off x="6918558" y="1122135"/>
            <a:ext cx="1907082" cy="282419"/>
          </a:xfrm>
          <a:prstGeom prst="rect">
            <a:avLst/>
          </a:prstGeom>
        </p:spPr>
        <p:txBody>
          <a:bodyPr anchor="t" rtlCol="false" tIns="0" lIns="0" bIns="0" rIns="0">
            <a:spAutoFit/>
          </a:bodyPr>
          <a:lstStyle/>
          <a:p>
            <a:pPr algn="ctr" marL="0" indent="0" lvl="0">
              <a:lnSpc>
                <a:spcPts val="2283"/>
              </a:lnSpc>
              <a:spcBef>
                <a:spcPct val="0"/>
              </a:spcBef>
            </a:pPr>
            <a:r>
              <a:rPr lang="en-US" sz="1631" spc="3">
                <a:solidFill>
                  <a:srgbClr val="FFFFFF"/>
                </a:solidFill>
                <a:latin typeface="Poppins"/>
                <a:ea typeface="Poppins"/>
                <a:cs typeface="Poppins"/>
                <a:sym typeface="Poppins"/>
              </a:rPr>
              <a:t>About</a:t>
            </a:r>
          </a:p>
        </p:txBody>
      </p:sp>
      <p:sp>
        <p:nvSpPr>
          <p:cNvPr name="TextBox 14" id="14"/>
          <p:cNvSpPr txBox="true"/>
          <p:nvPr/>
        </p:nvSpPr>
        <p:spPr>
          <a:xfrm rot="0">
            <a:off x="9626180" y="1122135"/>
            <a:ext cx="1589190" cy="282419"/>
          </a:xfrm>
          <a:prstGeom prst="rect">
            <a:avLst/>
          </a:prstGeom>
        </p:spPr>
        <p:txBody>
          <a:bodyPr anchor="t" rtlCol="false" tIns="0" lIns="0" bIns="0" rIns="0">
            <a:spAutoFit/>
          </a:bodyPr>
          <a:lstStyle/>
          <a:p>
            <a:pPr algn="ctr" marL="0" indent="0" lvl="0">
              <a:lnSpc>
                <a:spcPts val="2283"/>
              </a:lnSpc>
              <a:spcBef>
                <a:spcPct val="0"/>
              </a:spcBef>
            </a:pPr>
            <a:r>
              <a:rPr lang="en-US" b="true" sz="1631" spc="3">
                <a:solidFill>
                  <a:srgbClr val="FFFFFF"/>
                </a:solidFill>
                <a:latin typeface="Poppins Bold"/>
                <a:ea typeface="Poppins Bold"/>
                <a:cs typeface="Poppins Bold"/>
                <a:sym typeface="Poppins Bold"/>
              </a:rPr>
              <a:t>Content</a:t>
            </a:r>
          </a:p>
        </p:txBody>
      </p:sp>
      <p:sp>
        <p:nvSpPr>
          <p:cNvPr name="TextBox 15" id="15"/>
          <p:cNvSpPr txBox="true"/>
          <p:nvPr/>
        </p:nvSpPr>
        <p:spPr>
          <a:xfrm rot="0">
            <a:off x="11559765" y="1119922"/>
            <a:ext cx="2224975" cy="282419"/>
          </a:xfrm>
          <a:prstGeom prst="rect">
            <a:avLst/>
          </a:prstGeom>
        </p:spPr>
        <p:txBody>
          <a:bodyPr anchor="t" rtlCol="false" tIns="0" lIns="0" bIns="0" rIns="0">
            <a:spAutoFit/>
          </a:bodyPr>
          <a:lstStyle/>
          <a:p>
            <a:pPr algn="ctr" marL="0" indent="0" lvl="0">
              <a:lnSpc>
                <a:spcPts val="2283"/>
              </a:lnSpc>
              <a:spcBef>
                <a:spcPct val="0"/>
              </a:spcBef>
            </a:pPr>
            <a:r>
              <a:rPr lang="en-US" sz="1631" spc="3">
                <a:solidFill>
                  <a:srgbClr val="FFFFFF"/>
                </a:solidFill>
                <a:latin typeface="Poppins"/>
                <a:ea typeface="Poppins"/>
                <a:cs typeface="Poppins"/>
                <a:sym typeface="Poppins"/>
              </a:rPr>
              <a:t>Others</a:t>
            </a:r>
          </a:p>
        </p:txBody>
      </p:sp>
      <p:sp>
        <p:nvSpPr>
          <p:cNvPr name="TextBox 16" id="16"/>
          <p:cNvSpPr txBox="true"/>
          <p:nvPr/>
        </p:nvSpPr>
        <p:spPr>
          <a:xfrm rot="0">
            <a:off x="1028700" y="852871"/>
            <a:ext cx="1761862" cy="358959"/>
          </a:xfrm>
          <a:prstGeom prst="rect">
            <a:avLst/>
          </a:prstGeom>
        </p:spPr>
        <p:txBody>
          <a:bodyPr anchor="t" rtlCol="false" tIns="0" lIns="0" bIns="0" rIns="0">
            <a:spAutoFit/>
          </a:bodyPr>
          <a:lstStyle/>
          <a:p>
            <a:pPr algn="l" marL="0" indent="0" lvl="0">
              <a:lnSpc>
                <a:spcPts val="2789"/>
              </a:lnSpc>
              <a:spcBef>
                <a:spcPct val="0"/>
              </a:spcBef>
            </a:pPr>
            <a:r>
              <a:rPr lang="en-US" b="true" sz="1992" spc="3">
                <a:solidFill>
                  <a:srgbClr val="020F8D"/>
                </a:solidFill>
                <a:latin typeface="Poppins Heavy"/>
                <a:ea typeface="Poppins Heavy"/>
                <a:cs typeface="Poppins Heavy"/>
                <a:sym typeface="Poppins Heavy"/>
              </a:rPr>
              <a:t>Thynk</a:t>
            </a:r>
          </a:p>
        </p:txBody>
      </p:sp>
      <p:sp>
        <p:nvSpPr>
          <p:cNvPr name="TextBox 17" id="17"/>
          <p:cNvSpPr txBox="true"/>
          <p:nvPr/>
        </p:nvSpPr>
        <p:spPr>
          <a:xfrm rot="0">
            <a:off x="1028700" y="1173932"/>
            <a:ext cx="1761862" cy="358959"/>
          </a:xfrm>
          <a:prstGeom prst="rect">
            <a:avLst/>
          </a:prstGeom>
        </p:spPr>
        <p:txBody>
          <a:bodyPr anchor="t" rtlCol="false" tIns="0" lIns="0" bIns="0" rIns="0">
            <a:spAutoFit/>
          </a:bodyPr>
          <a:lstStyle/>
          <a:p>
            <a:pPr algn="l" marL="0" indent="0" lvl="0">
              <a:lnSpc>
                <a:spcPts val="2789"/>
              </a:lnSpc>
              <a:spcBef>
                <a:spcPct val="0"/>
              </a:spcBef>
            </a:pPr>
            <a:r>
              <a:rPr lang="en-US" sz="1992" spc="3">
                <a:solidFill>
                  <a:srgbClr val="020F8D"/>
                </a:solidFill>
                <a:latin typeface="Poppins"/>
                <a:ea typeface="Poppins"/>
                <a:cs typeface="Poppins"/>
                <a:sym typeface="Poppins"/>
              </a:rPr>
              <a:t>Unlimited.</a:t>
            </a:r>
          </a:p>
        </p:txBody>
      </p:sp>
      <p:sp>
        <p:nvSpPr>
          <p:cNvPr name="TextBox 18" id="18"/>
          <p:cNvSpPr txBox="true"/>
          <p:nvPr/>
        </p:nvSpPr>
        <p:spPr>
          <a:xfrm rot="0">
            <a:off x="1603259" y="3083478"/>
            <a:ext cx="5752440" cy="1269225"/>
          </a:xfrm>
          <a:prstGeom prst="rect">
            <a:avLst/>
          </a:prstGeom>
        </p:spPr>
        <p:txBody>
          <a:bodyPr anchor="t" rtlCol="false" tIns="0" lIns="0" bIns="0" rIns="0">
            <a:spAutoFit/>
          </a:bodyPr>
          <a:lstStyle/>
          <a:p>
            <a:pPr algn="l" marL="0" indent="0" lvl="0">
              <a:lnSpc>
                <a:spcPts val="4782"/>
              </a:lnSpc>
            </a:pPr>
            <a:r>
              <a:rPr lang="en-US" b="true" sz="4688" spc="-267">
                <a:solidFill>
                  <a:srgbClr val="FFFFFF"/>
                </a:solidFill>
                <a:latin typeface="Poppins Bold"/>
                <a:ea typeface="Poppins Bold"/>
                <a:cs typeface="Poppins Bold"/>
                <a:sym typeface="Poppins Bold"/>
              </a:rPr>
              <a:t>The Challenge of Delivery Delays</a:t>
            </a:r>
          </a:p>
        </p:txBody>
      </p:sp>
      <p:sp>
        <p:nvSpPr>
          <p:cNvPr name="TextBox 19" id="19"/>
          <p:cNvSpPr txBox="true"/>
          <p:nvPr/>
        </p:nvSpPr>
        <p:spPr>
          <a:xfrm rot="0">
            <a:off x="7412849" y="3163272"/>
            <a:ext cx="9044227" cy="1438509"/>
          </a:xfrm>
          <a:prstGeom prst="rect">
            <a:avLst/>
          </a:prstGeom>
        </p:spPr>
        <p:txBody>
          <a:bodyPr anchor="t" rtlCol="false" tIns="0" lIns="0" bIns="0" rIns="0">
            <a:spAutoFit/>
          </a:bodyPr>
          <a:lstStyle/>
          <a:p>
            <a:pPr algn="just" marL="0" indent="0" lvl="0">
              <a:lnSpc>
                <a:spcPts val="2267"/>
              </a:lnSpc>
            </a:pPr>
            <a:r>
              <a:rPr lang="en-US" sz="1828" spc="-80">
                <a:solidFill>
                  <a:srgbClr val="FFFFFF"/>
                </a:solidFill>
                <a:latin typeface="Poppins"/>
                <a:ea typeface="Poppins"/>
                <a:cs typeface="Poppins"/>
                <a:sym typeface="Poppins"/>
              </a:rPr>
              <a:t>Over 60% of businesses report delivery delays as a top operational challenge. Timely delivery is critical — it directly affects customer trust, brand reputation, and repeat business. When shipments arrive late, businesses face lost sales, negative reviews, and declining customer loyalty. In today's competitive market, meeting delivery expectations is no longer optional.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44174" y="615425"/>
            <a:ext cx="9540566" cy="1370396"/>
            <a:chOff x="0" y="0"/>
            <a:chExt cx="2512742" cy="360927"/>
          </a:xfrm>
        </p:grpSpPr>
        <p:sp>
          <p:nvSpPr>
            <p:cNvPr name="Freeform 3" id="3"/>
            <p:cNvSpPr/>
            <p:nvPr/>
          </p:nvSpPr>
          <p:spPr>
            <a:xfrm flipH="false" flipV="false" rot="0">
              <a:off x="0" y="0"/>
              <a:ext cx="2512742" cy="360927"/>
            </a:xfrm>
            <a:custGeom>
              <a:avLst/>
              <a:gdLst/>
              <a:ahLst/>
              <a:cxnLst/>
              <a:rect r="r" b="b" t="t" l="l"/>
              <a:pathLst>
                <a:path h="360927" w="2512742">
                  <a:moveTo>
                    <a:pt x="32459" y="0"/>
                  </a:moveTo>
                  <a:lnTo>
                    <a:pt x="2480283" y="0"/>
                  </a:lnTo>
                  <a:cubicBezTo>
                    <a:pt x="2488891" y="0"/>
                    <a:pt x="2497148" y="3420"/>
                    <a:pt x="2503235" y="9507"/>
                  </a:cubicBezTo>
                  <a:cubicBezTo>
                    <a:pt x="2509322" y="15594"/>
                    <a:pt x="2512742" y="23850"/>
                    <a:pt x="2512742" y="32459"/>
                  </a:cubicBezTo>
                  <a:lnTo>
                    <a:pt x="2512742" y="328468"/>
                  </a:lnTo>
                  <a:cubicBezTo>
                    <a:pt x="2512742" y="337077"/>
                    <a:pt x="2509322" y="345333"/>
                    <a:pt x="2503235" y="351420"/>
                  </a:cubicBezTo>
                  <a:cubicBezTo>
                    <a:pt x="2497148" y="357507"/>
                    <a:pt x="2488891" y="360927"/>
                    <a:pt x="2480283" y="360927"/>
                  </a:cubicBezTo>
                  <a:lnTo>
                    <a:pt x="32459" y="360927"/>
                  </a:lnTo>
                  <a:cubicBezTo>
                    <a:pt x="23850" y="360927"/>
                    <a:pt x="15594" y="357507"/>
                    <a:pt x="9507" y="351420"/>
                  </a:cubicBezTo>
                  <a:cubicBezTo>
                    <a:pt x="3420" y="345333"/>
                    <a:pt x="0" y="337077"/>
                    <a:pt x="0" y="328468"/>
                  </a:cubicBezTo>
                  <a:lnTo>
                    <a:pt x="0" y="32459"/>
                  </a:lnTo>
                  <a:cubicBezTo>
                    <a:pt x="0" y="23850"/>
                    <a:pt x="3420" y="15594"/>
                    <a:pt x="9507" y="9507"/>
                  </a:cubicBezTo>
                  <a:cubicBezTo>
                    <a:pt x="15594" y="3420"/>
                    <a:pt x="23850" y="0"/>
                    <a:pt x="32459" y="0"/>
                  </a:cubicBezTo>
                  <a:close/>
                </a:path>
              </a:pathLst>
            </a:custGeom>
            <a:solidFill>
              <a:srgbClr val="EF5026"/>
            </a:solidFill>
          </p:spPr>
        </p:sp>
        <p:sp>
          <p:nvSpPr>
            <p:cNvPr name="TextBox 4" id="4"/>
            <p:cNvSpPr txBox="true"/>
            <p:nvPr/>
          </p:nvSpPr>
          <p:spPr>
            <a:xfrm>
              <a:off x="0" y="-57150"/>
              <a:ext cx="2512742" cy="418077"/>
            </a:xfrm>
            <a:prstGeom prst="rect">
              <a:avLst/>
            </a:prstGeom>
          </p:spPr>
          <p:txBody>
            <a:bodyPr anchor="ctr" rtlCol="false" tIns="50800" lIns="50800" bIns="50800" rIns="50800"/>
            <a:lstStyle/>
            <a:p>
              <a:pPr algn="ctr" marL="0" indent="0" lvl="0">
                <a:lnSpc>
                  <a:spcPts val="2871"/>
                </a:lnSpc>
              </a:pPr>
            </a:p>
          </p:txBody>
        </p:sp>
      </p:grpSp>
      <p:sp>
        <p:nvSpPr>
          <p:cNvPr name="Freeform 5" id="5"/>
          <p:cNvSpPr/>
          <p:nvPr/>
        </p:nvSpPr>
        <p:spPr>
          <a:xfrm flipH="false" flipV="false" rot="0">
            <a:off x="16518415" y="979562"/>
            <a:ext cx="750613" cy="626015"/>
          </a:xfrm>
          <a:custGeom>
            <a:avLst/>
            <a:gdLst/>
            <a:ahLst/>
            <a:cxnLst/>
            <a:rect r="r" b="b" t="t" l="l"/>
            <a:pathLst>
              <a:path h="626015" w="750613">
                <a:moveTo>
                  <a:pt x="0" y="0"/>
                </a:moveTo>
                <a:lnTo>
                  <a:pt x="750613" y="0"/>
                </a:lnTo>
                <a:lnTo>
                  <a:pt x="750613" y="626015"/>
                </a:lnTo>
                <a:lnTo>
                  <a:pt x="0" y="626015"/>
                </a:lnTo>
                <a:lnTo>
                  <a:pt x="0" y="0"/>
                </a:lnTo>
                <a:close/>
              </a:path>
            </a:pathLst>
          </a:custGeom>
          <a:blipFill>
            <a:blip r:embed="rId2">
              <a:extLst>
                <a:ext uri="{96DAC541-7B7A-43D3-8B79-37D633B846F1}">
                  <asvg:svgBlip xmlns:asvg="http://schemas.microsoft.com/office/drawing/2016/SVG/main" r:embed="rId3"/>
                </a:ext>
              </a:extLst>
            </a:blip>
            <a:stretch>
              <a:fillRect l="-285065" t="0" r="0" b="-72930"/>
            </a:stretch>
          </a:blipFill>
        </p:spPr>
      </p:sp>
      <p:grpSp>
        <p:nvGrpSpPr>
          <p:cNvPr name="Group 6" id="6"/>
          <p:cNvGrpSpPr/>
          <p:nvPr/>
        </p:nvGrpSpPr>
        <p:grpSpPr>
          <a:xfrm rot="0">
            <a:off x="1028700" y="2548139"/>
            <a:ext cx="16230600" cy="2330588"/>
            <a:chOff x="0" y="0"/>
            <a:chExt cx="4274726" cy="613817"/>
          </a:xfrm>
        </p:grpSpPr>
        <p:sp>
          <p:nvSpPr>
            <p:cNvPr name="Freeform 7" id="7"/>
            <p:cNvSpPr/>
            <p:nvPr/>
          </p:nvSpPr>
          <p:spPr>
            <a:xfrm flipH="false" flipV="false" rot="0">
              <a:off x="0" y="0"/>
              <a:ext cx="4274726" cy="613817"/>
            </a:xfrm>
            <a:custGeom>
              <a:avLst/>
              <a:gdLst/>
              <a:ahLst/>
              <a:cxnLst/>
              <a:rect r="r" b="b" t="t" l="l"/>
              <a:pathLst>
                <a:path h="613817" w="4274726">
                  <a:moveTo>
                    <a:pt x="19080" y="0"/>
                  </a:moveTo>
                  <a:lnTo>
                    <a:pt x="4255646" y="0"/>
                  </a:lnTo>
                  <a:cubicBezTo>
                    <a:pt x="4266183" y="0"/>
                    <a:pt x="4274726" y="8542"/>
                    <a:pt x="4274726" y="19080"/>
                  </a:cubicBezTo>
                  <a:lnTo>
                    <a:pt x="4274726" y="594738"/>
                  </a:lnTo>
                  <a:cubicBezTo>
                    <a:pt x="4274726" y="599798"/>
                    <a:pt x="4272716" y="604651"/>
                    <a:pt x="4269137" y="608229"/>
                  </a:cubicBezTo>
                  <a:cubicBezTo>
                    <a:pt x="4265559" y="611807"/>
                    <a:pt x="4260706" y="613817"/>
                    <a:pt x="4255646" y="613817"/>
                  </a:cubicBezTo>
                  <a:lnTo>
                    <a:pt x="19080" y="613817"/>
                  </a:lnTo>
                  <a:cubicBezTo>
                    <a:pt x="8542" y="613817"/>
                    <a:pt x="0" y="605275"/>
                    <a:pt x="0" y="594738"/>
                  </a:cubicBezTo>
                  <a:lnTo>
                    <a:pt x="0" y="19080"/>
                  </a:lnTo>
                  <a:cubicBezTo>
                    <a:pt x="0" y="8542"/>
                    <a:pt x="8542" y="0"/>
                    <a:pt x="19080" y="0"/>
                  </a:cubicBezTo>
                  <a:close/>
                </a:path>
              </a:pathLst>
            </a:custGeom>
            <a:solidFill>
              <a:srgbClr val="020F8D"/>
            </a:solidFill>
          </p:spPr>
        </p:sp>
        <p:sp>
          <p:nvSpPr>
            <p:cNvPr name="TextBox 8" id="8"/>
            <p:cNvSpPr txBox="true"/>
            <p:nvPr/>
          </p:nvSpPr>
          <p:spPr>
            <a:xfrm>
              <a:off x="0" y="-57150"/>
              <a:ext cx="4274726" cy="670967"/>
            </a:xfrm>
            <a:prstGeom prst="rect">
              <a:avLst/>
            </a:prstGeom>
          </p:spPr>
          <p:txBody>
            <a:bodyPr anchor="ctr" rtlCol="false" tIns="50800" lIns="50800" bIns="50800" rIns="50800"/>
            <a:lstStyle/>
            <a:p>
              <a:pPr algn="ctr" marL="0" indent="0" lvl="0">
                <a:lnSpc>
                  <a:spcPts val="2871"/>
                </a:lnSpc>
              </a:pPr>
            </a:p>
          </p:txBody>
        </p:sp>
      </p:grpSp>
      <p:grpSp>
        <p:nvGrpSpPr>
          <p:cNvPr name="Group 9" id="9"/>
          <p:cNvGrpSpPr/>
          <p:nvPr/>
        </p:nvGrpSpPr>
        <p:grpSpPr>
          <a:xfrm rot="0">
            <a:off x="1028700" y="5440702"/>
            <a:ext cx="7796940" cy="3817598"/>
            <a:chOff x="0" y="0"/>
            <a:chExt cx="2053515" cy="1005458"/>
          </a:xfrm>
        </p:grpSpPr>
        <p:sp>
          <p:nvSpPr>
            <p:cNvPr name="Freeform 10" id="10"/>
            <p:cNvSpPr/>
            <p:nvPr/>
          </p:nvSpPr>
          <p:spPr>
            <a:xfrm flipH="false" flipV="false" rot="0">
              <a:off x="0" y="0"/>
              <a:ext cx="2053515" cy="1005458"/>
            </a:xfrm>
            <a:custGeom>
              <a:avLst/>
              <a:gdLst/>
              <a:ahLst/>
              <a:cxnLst/>
              <a:rect r="r" b="b" t="t" l="l"/>
              <a:pathLst>
                <a:path h="1005458" w="2053515">
                  <a:moveTo>
                    <a:pt x="39718" y="0"/>
                  </a:moveTo>
                  <a:lnTo>
                    <a:pt x="2013797" y="0"/>
                  </a:lnTo>
                  <a:cubicBezTo>
                    <a:pt x="2024331" y="0"/>
                    <a:pt x="2034434" y="4185"/>
                    <a:pt x="2041882" y="11633"/>
                  </a:cubicBezTo>
                  <a:cubicBezTo>
                    <a:pt x="2049331" y="19082"/>
                    <a:pt x="2053515" y="29184"/>
                    <a:pt x="2053515" y="39718"/>
                  </a:cubicBezTo>
                  <a:lnTo>
                    <a:pt x="2053515" y="965740"/>
                  </a:lnTo>
                  <a:cubicBezTo>
                    <a:pt x="2053515" y="976274"/>
                    <a:pt x="2049331" y="986376"/>
                    <a:pt x="2041882" y="993825"/>
                  </a:cubicBezTo>
                  <a:cubicBezTo>
                    <a:pt x="2034434" y="1001273"/>
                    <a:pt x="2024331" y="1005458"/>
                    <a:pt x="2013797" y="1005458"/>
                  </a:cubicBezTo>
                  <a:lnTo>
                    <a:pt x="39718" y="1005458"/>
                  </a:lnTo>
                  <a:cubicBezTo>
                    <a:pt x="29184" y="1005458"/>
                    <a:pt x="19082" y="1001273"/>
                    <a:pt x="11633" y="993825"/>
                  </a:cubicBezTo>
                  <a:cubicBezTo>
                    <a:pt x="4185" y="986376"/>
                    <a:pt x="0" y="976274"/>
                    <a:pt x="0" y="965740"/>
                  </a:cubicBezTo>
                  <a:lnTo>
                    <a:pt x="0" y="39718"/>
                  </a:lnTo>
                  <a:cubicBezTo>
                    <a:pt x="0" y="29184"/>
                    <a:pt x="4185" y="19082"/>
                    <a:pt x="11633" y="11633"/>
                  </a:cubicBezTo>
                  <a:cubicBezTo>
                    <a:pt x="19082" y="4185"/>
                    <a:pt x="29184" y="0"/>
                    <a:pt x="39718" y="0"/>
                  </a:cubicBezTo>
                  <a:close/>
                </a:path>
              </a:pathLst>
            </a:custGeom>
            <a:solidFill>
              <a:srgbClr val="EF5026"/>
            </a:solidFill>
          </p:spPr>
        </p:sp>
        <p:sp>
          <p:nvSpPr>
            <p:cNvPr name="TextBox 11" id="11"/>
            <p:cNvSpPr txBox="true"/>
            <p:nvPr/>
          </p:nvSpPr>
          <p:spPr>
            <a:xfrm>
              <a:off x="0" y="-57150"/>
              <a:ext cx="2053515" cy="1062608"/>
            </a:xfrm>
            <a:prstGeom prst="rect">
              <a:avLst/>
            </a:prstGeom>
          </p:spPr>
          <p:txBody>
            <a:bodyPr anchor="ctr" rtlCol="false" tIns="50800" lIns="50800" bIns="50800" rIns="50800"/>
            <a:lstStyle/>
            <a:p>
              <a:pPr algn="ctr" marL="0" indent="0" lvl="0">
                <a:lnSpc>
                  <a:spcPts val="2871"/>
                </a:lnSpc>
              </a:pPr>
            </a:p>
          </p:txBody>
        </p:sp>
      </p:grpSp>
      <p:grpSp>
        <p:nvGrpSpPr>
          <p:cNvPr name="Group 12" id="12"/>
          <p:cNvGrpSpPr/>
          <p:nvPr/>
        </p:nvGrpSpPr>
        <p:grpSpPr>
          <a:xfrm rot="0">
            <a:off x="9412543" y="5440702"/>
            <a:ext cx="7856486" cy="3817598"/>
            <a:chOff x="0" y="0"/>
            <a:chExt cx="2069198" cy="1005458"/>
          </a:xfrm>
        </p:grpSpPr>
        <p:sp>
          <p:nvSpPr>
            <p:cNvPr name="Freeform 13" id="13"/>
            <p:cNvSpPr/>
            <p:nvPr/>
          </p:nvSpPr>
          <p:spPr>
            <a:xfrm flipH="false" flipV="false" rot="0">
              <a:off x="0" y="0"/>
              <a:ext cx="2069198" cy="1005458"/>
            </a:xfrm>
            <a:custGeom>
              <a:avLst/>
              <a:gdLst/>
              <a:ahLst/>
              <a:cxnLst/>
              <a:rect r="r" b="b" t="t" l="l"/>
              <a:pathLst>
                <a:path h="1005458" w="2069198">
                  <a:moveTo>
                    <a:pt x="39417" y="0"/>
                  </a:moveTo>
                  <a:lnTo>
                    <a:pt x="2029781" y="0"/>
                  </a:lnTo>
                  <a:cubicBezTo>
                    <a:pt x="2040235" y="0"/>
                    <a:pt x="2050261" y="4153"/>
                    <a:pt x="2057653" y="11545"/>
                  </a:cubicBezTo>
                  <a:cubicBezTo>
                    <a:pt x="2065045" y="18937"/>
                    <a:pt x="2069198" y="28963"/>
                    <a:pt x="2069198" y="39417"/>
                  </a:cubicBezTo>
                  <a:lnTo>
                    <a:pt x="2069198" y="966041"/>
                  </a:lnTo>
                  <a:cubicBezTo>
                    <a:pt x="2069198" y="976495"/>
                    <a:pt x="2065045" y="986521"/>
                    <a:pt x="2057653" y="993913"/>
                  </a:cubicBezTo>
                  <a:cubicBezTo>
                    <a:pt x="2050261" y="1001305"/>
                    <a:pt x="2040235" y="1005458"/>
                    <a:pt x="2029781" y="1005458"/>
                  </a:cubicBezTo>
                  <a:lnTo>
                    <a:pt x="39417" y="1005458"/>
                  </a:lnTo>
                  <a:cubicBezTo>
                    <a:pt x="28963" y="1005458"/>
                    <a:pt x="18937" y="1001305"/>
                    <a:pt x="11545" y="993913"/>
                  </a:cubicBezTo>
                  <a:cubicBezTo>
                    <a:pt x="4153" y="986521"/>
                    <a:pt x="0" y="976495"/>
                    <a:pt x="0" y="966041"/>
                  </a:cubicBezTo>
                  <a:lnTo>
                    <a:pt x="0" y="39417"/>
                  </a:lnTo>
                  <a:cubicBezTo>
                    <a:pt x="0" y="28963"/>
                    <a:pt x="4153" y="18937"/>
                    <a:pt x="11545" y="11545"/>
                  </a:cubicBezTo>
                  <a:cubicBezTo>
                    <a:pt x="18937" y="4153"/>
                    <a:pt x="28963" y="0"/>
                    <a:pt x="39417" y="0"/>
                  </a:cubicBezTo>
                  <a:close/>
                </a:path>
              </a:pathLst>
            </a:custGeom>
            <a:solidFill>
              <a:srgbClr val="FDBB21"/>
            </a:solidFill>
          </p:spPr>
        </p:sp>
        <p:sp>
          <p:nvSpPr>
            <p:cNvPr name="TextBox 14" id="14"/>
            <p:cNvSpPr txBox="true"/>
            <p:nvPr/>
          </p:nvSpPr>
          <p:spPr>
            <a:xfrm>
              <a:off x="0" y="-57150"/>
              <a:ext cx="2069198" cy="1062608"/>
            </a:xfrm>
            <a:prstGeom prst="rect">
              <a:avLst/>
            </a:prstGeom>
          </p:spPr>
          <p:txBody>
            <a:bodyPr anchor="ctr" rtlCol="false" tIns="50800" lIns="50800" bIns="50800" rIns="50800"/>
            <a:lstStyle/>
            <a:p>
              <a:pPr algn="ctr" marL="0" indent="0" lvl="0">
                <a:lnSpc>
                  <a:spcPts val="2871"/>
                </a:lnSpc>
              </a:pPr>
            </a:p>
          </p:txBody>
        </p:sp>
      </p:grpSp>
      <p:sp>
        <p:nvSpPr>
          <p:cNvPr name="Freeform 15" id="15"/>
          <p:cNvSpPr/>
          <p:nvPr/>
        </p:nvSpPr>
        <p:spPr>
          <a:xfrm flipH="false" flipV="false" rot="0">
            <a:off x="15206617" y="2869881"/>
            <a:ext cx="1687104" cy="1687104"/>
          </a:xfrm>
          <a:custGeom>
            <a:avLst/>
            <a:gdLst/>
            <a:ahLst/>
            <a:cxnLst/>
            <a:rect r="r" b="b" t="t" l="l"/>
            <a:pathLst>
              <a:path h="1687104" w="1687104">
                <a:moveTo>
                  <a:pt x="0" y="0"/>
                </a:moveTo>
                <a:lnTo>
                  <a:pt x="1687105" y="0"/>
                </a:lnTo>
                <a:lnTo>
                  <a:pt x="1687105" y="1687104"/>
                </a:lnTo>
                <a:lnTo>
                  <a:pt x="0" y="16871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4654435" y="1119922"/>
            <a:ext cx="1662550" cy="258208"/>
          </a:xfrm>
          <a:prstGeom prst="rect">
            <a:avLst/>
          </a:prstGeom>
        </p:spPr>
        <p:txBody>
          <a:bodyPr anchor="t" rtlCol="false" tIns="0" lIns="0" bIns="0" rIns="0">
            <a:spAutoFit/>
          </a:bodyPr>
          <a:lstStyle/>
          <a:p>
            <a:pPr algn="ctr" marL="0" indent="0" lvl="0">
              <a:lnSpc>
                <a:spcPts val="2043"/>
              </a:lnSpc>
              <a:spcBef>
                <a:spcPct val="0"/>
              </a:spcBef>
            </a:pPr>
            <a:r>
              <a:rPr lang="en-US" sz="1459" spc="2">
                <a:solidFill>
                  <a:srgbClr val="FFFFFF"/>
                </a:solidFill>
                <a:latin typeface="Poppins"/>
                <a:ea typeface="Poppins"/>
                <a:cs typeface="Poppins"/>
                <a:sym typeface="Poppins"/>
              </a:rPr>
              <a:t>Home</a:t>
            </a:r>
          </a:p>
        </p:txBody>
      </p:sp>
      <p:sp>
        <p:nvSpPr>
          <p:cNvPr name="TextBox 17" id="17"/>
          <p:cNvSpPr txBox="true"/>
          <p:nvPr/>
        </p:nvSpPr>
        <p:spPr>
          <a:xfrm rot="0">
            <a:off x="6918558" y="1122135"/>
            <a:ext cx="1907082" cy="258208"/>
          </a:xfrm>
          <a:prstGeom prst="rect">
            <a:avLst/>
          </a:prstGeom>
        </p:spPr>
        <p:txBody>
          <a:bodyPr anchor="t" rtlCol="false" tIns="0" lIns="0" bIns="0" rIns="0">
            <a:spAutoFit/>
          </a:bodyPr>
          <a:lstStyle/>
          <a:p>
            <a:pPr algn="ctr" marL="0" indent="0" lvl="0">
              <a:lnSpc>
                <a:spcPts val="2043"/>
              </a:lnSpc>
              <a:spcBef>
                <a:spcPct val="0"/>
              </a:spcBef>
            </a:pPr>
            <a:r>
              <a:rPr lang="en-US" sz="1459" spc="2">
                <a:solidFill>
                  <a:srgbClr val="FFFFFF"/>
                </a:solidFill>
                <a:latin typeface="Poppins"/>
                <a:ea typeface="Poppins"/>
                <a:cs typeface="Poppins"/>
                <a:sym typeface="Poppins"/>
              </a:rPr>
              <a:t>About</a:t>
            </a:r>
          </a:p>
        </p:txBody>
      </p:sp>
      <p:sp>
        <p:nvSpPr>
          <p:cNvPr name="TextBox 18" id="18"/>
          <p:cNvSpPr txBox="true"/>
          <p:nvPr/>
        </p:nvSpPr>
        <p:spPr>
          <a:xfrm rot="0">
            <a:off x="9626180" y="1122135"/>
            <a:ext cx="1589190" cy="258208"/>
          </a:xfrm>
          <a:prstGeom prst="rect">
            <a:avLst/>
          </a:prstGeom>
        </p:spPr>
        <p:txBody>
          <a:bodyPr anchor="t" rtlCol="false" tIns="0" lIns="0" bIns="0" rIns="0">
            <a:spAutoFit/>
          </a:bodyPr>
          <a:lstStyle/>
          <a:p>
            <a:pPr algn="ctr" marL="0" indent="0" lvl="0">
              <a:lnSpc>
                <a:spcPts val="2043"/>
              </a:lnSpc>
              <a:spcBef>
                <a:spcPct val="0"/>
              </a:spcBef>
            </a:pPr>
            <a:r>
              <a:rPr lang="en-US" b="true" sz="1459" spc="2">
                <a:solidFill>
                  <a:srgbClr val="FFFFFF"/>
                </a:solidFill>
                <a:latin typeface="Poppins Bold"/>
                <a:ea typeface="Poppins Bold"/>
                <a:cs typeface="Poppins Bold"/>
                <a:sym typeface="Poppins Bold"/>
              </a:rPr>
              <a:t>Content</a:t>
            </a:r>
          </a:p>
        </p:txBody>
      </p:sp>
      <p:sp>
        <p:nvSpPr>
          <p:cNvPr name="TextBox 19" id="19"/>
          <p:cNvSpPr txBox="true"/>
          <p:nvPr/>
        </p:nvSpPr>
        <p:spPr>
          <a:xfrm rot="0">
            <a:off x="11559765" y="1119922"/>
            <a:ext cx="2224975" cy="258208"/>
          </a:xfrm>
          <a:prstGeom prst="rect">
            <a:avLst/>
          </a:prstGeom>
        </p:spPr>
        <p:txBody>
          <a:bodyPr anchor="t" rtlCol="false" tIns="0" lIns="0" bIns="0" rIns="0">
            <a:spAutoFit/>
          </a:bodyPr>
          <a:lstStyle/>
          <a:p>
            <a:pPr algn="ctr" marL="0" indent="0" lvl="0">
              <a:lnSpc>
                <a:spcPts val="2043"/>
              </a:lnSpc>
              <a:spcBef>
                <a:spcPct val="0"/>
              </a:spcBef>
            </a:pPr>
            <a:r>
              <a:rPr lang="en-US" sz="1459" spc="2">
                <a:solidFill>
                  <a:srgbClr val="FFFFFF"/>
                </a:solidFill>
                <a:latin typeface="Poppins"/>
                <a:ea typeface="Poppins"/>
                <a:cs typeface="Poppins"/>
                <a:sym typeface="Poppins"/>
              </a:rPr>
              <a:t>Others</a:t>
            </a:r>
          </a:p>
        </p:txBody>
      </p:sp>
      <p:sp>
        <p:nvSpPr>
          <p:cNvPr name="TextBox 20" id="20"/>
          <p:cNvSpPr txBox="true"/>
          <p:nvPr/>
        </p:nvSpPr>
        <p:spPr>
          <a:xfrm rot="0">
            <a:off x="1028700" y="862396"/>
            <a:ext cx="1761862" cy="316665"/>
          </a:xfrm>
          <a:prstGeom prst="rect">
            <a:avLst/>
          </a:prstGeom>
        </p:spPr>
        <p:txBody>
          <a:bodyPr anchor="t" rtlCol="false" tIns="0" lIns="0" bIns="0" rIns="0">
            <a:spAutoFit/>
          </a:bodyPr>
          <a:lstStyle/>
          <a:p>
            <a:pPr algn="l" marL="0" indent="0" lvl="0">
              <a:lnSpc>
                <a:spcPts val="2496"/>
              </a:lnSpc>
              <a:spcBef>
                <a:spcPct val="0"/>
              </a:spcBef>
            </a:pPr>
            <a:r>
              <a:rPr lang="en-US" b="true" sz="1782" spc="3">
                <a:solidFill>
                  <a:srgbClr val="020F8D"/>
                </a:solidFill>
                <a:latin typeface="Poppins Heavy"/>
                <a:ea typeface="Poppins Heavy"/>
                <a:cs typeface="Poppins Heavy"/>
                <a:sym typeface="Poppins Heavy"/>
              </a:rPr>
              <a:t>Thynk</a:t>
            </a:r>
          </a:p>
        </p:txBody>
      </p:sp>
      <p:sp>
        <p:nvSpPr>
          <p:cNvPr name="TextBox 21" id="21"/>
          <p:cNvSpPr txBox="true"/>
          <p:nvPr/>
        </p:nvSpPr>
        <p:spPr>
          <a:xfrm rot="0">
            <a:off x="1028700" y="1183457"/>
            <a:ext cx="1761862" cy="316665"/>
          </a:xfrm>
          <a:prstGeom prst="rect">
            <a:avLst/>
          </a:prstGeom>
        </p:spPr>
        <p:txBody>
          <a:bodyPr anchor="t" rtlCol="false" tIns="0" lIns="0" bIns="0" rIns="0">
            <a:spAutoFit/>
          </a:bodyPr>
          <a:lstStyle/>
          <a:p>
            <a:pPr algn="l" marL="0" indent="0" lvl="0">
              <a:lnSpc>
                <a:spcPts val="2496"/>
              </a:lnSpc>
              <a:spcBef>
                <a:spcPct val="0"/>
              </a:spcBef>
            </a:pPr>
            <a:r>
              <a:rPr lang="en-US" sz="1782" spc="3">
                <a:solidFill>
                  <a:srgbClr val="020F8D"/>
                </a:solidFill>
                <a:latin typeface="Poppins"/>
                <a:ea typeface="Poppins"/>
                <a:cs typeface="Poppins"/>
                <a:sym typeface="Poppins"/>
              </a:rPr>
              <a:t>Unlimited.</a:t>
            </a:r>
          </a:p>
        </p:txBody>
      </p:sp>
      <p:sp>
        <p:nvSpPr>
          <p:cNvPr name="TextBox 22" id="22"/>
          <p:cNvSpPr txBox="true"/>
          <p:nvPr/>
        </p:nvSpPr>
        <p:spPr>
          <a:xfrm rot="0">
            <a:off x="1823906" y="3213987"/>
            <a:ext cx="12848534" cy="737779"/>
          </a:xfrm>
          <a:prstGeom prst="rect">
            <a:avLst/>
          </a:prstGeom>
        </p:spPr>
        <p:txBody>
          <a:bodyPr anchor="t" rtlCol="false" tIns="0" lIns="0" bIns="0" rIns="0">
            <a:spAutoFit/>
          </a:bodyPr>
          <a:lstStyle/>
          <a:p>
            <a:pPr algn="l" marL="0" indent="0" lvl="0">
              <a:lnSpc>
                <a:spcPts val="5294"/>
              </a:lnSpc>
            </a:pPr>
            <a:r>
              <a:rPr lang="en-US" b="true" sz="5190" spc="-295">
                <a:solidFill>
                  <a:srgbClr val="FFFFFF"/>
                </a:solidFill>
                <a:latin typeface="Poppins Bold"/>
                <a:ea typeface="Poppins Bold"/>
                <a:cs typeface="Poppins Bold"/>
                <a:sym typeface="Poppins Bold"/>
              </a:rPr>
              <a:t>Common Internal Factors Causing Delays</a:t>
            </a:r>
          </a:p>
        </p:txBody>
      </p:sp>
      <p:sp>
        <p:nvSpPr>
          <p:cNvPr name="TextBox 23" id="23"/>
          <p:cNvSpPr txBox="true"/>
          <p:nvPr/>
        </p:nvSpPr>
        <p:spPr>
          <a:xfrm rot="0">
            <a:off x="1909631" y="6221868"/>
            <a:ext cx="6048193" cy="1810963"/>
          </a:xfrm>
          <a:prstGeom prst="rect">
            <a:avLst/>
          </a:prstGeom>
        </p:spPr>
        <p:txBody>
          <a:bodyPr anchor="t" rtlCol="false" tIns="0" lIns="0" bIns="0" rIns="0">
            <a:spAutoFit/>
          </a:bodyPr>
          <a:lstStyle/>
          <a:p>
            <a:pPr algn="just" marL="0" indent="0" lvl="0">
              <a:lnSpc>
                <a:spcPts val="2028"/>
              </a:lnSpc>
            </a:pPr>
            <a:r>
              <a:rPr lang="en-US" sz="1636" spc="-71">
                <a:solidFill>
                  <a:srgbClr val="FFFFFF"/>
                </a:solidFill>
                <a:latin typeface="Poppins"/>
                <a:ea typeface="Poppins"/>
                <a:cs typeface="Poppins"/>
                <a:sym typeface="Poppins"/>
              </a:rPr>
              <a:t>Internal factors that lead to delivery delays include: inventory management issues such as stockouts and inaccuracies; inefficient order processing systems that slow fulfillment; workforce challenges including staff shortages and training gaps; and equipment or technology failures that disrupt operations. Addressing these issues is key to improving delivery performance.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44174" y="615425"/>
            <a:ext cx="9540566" cy="1370396"/>
            <a:chOff x="0" y="0"/>
            <a:chExt cx="2512742" cy="360927"/>
          </a:xfrm>
        </p:grpSpPr>
        <p:sp>
          <p:nvSpPr>
            <p:cNvPr name="Freeform 3" id="3"/>
            <p:cNvSpPr/>
            <p:nvPr/>
          </p:nvSpPr>
          <p:spPr>
            <a:xfrm flipH="false" flipV="false" rot="0">
              <a:off x="0" y="0"/>
              <a:ext cx="2512742" cy="360927"/>
            </a:xfrm>
            <a:custGeom>
              <a:avLst/>
              <a:gdLst/>
              <a:ahLst/>
              <a:cxnLst/>
              <a:rect r="r" b="b" t="t" l="l"/>
              <a:pathLst>
                <a:path h="360927" w="2512742">
                  <a:moveTo>
                    <a:pt x="32459" y="0"/>
                  </a:moveTo>
                  <a:lnTo>
                    <a:pt x="2480283" y="0"/>
                  </a:lnTo>
                  <a:cubicBezTo>
                    <a:pt x="2488891" y="0"/>
                    <a:pt x="2497148" y="3420"/>
                    <a:pt x="2503235" y="9507"/>
                  </a:cubicBezTo>
                  <a:cubicBezTo>
                    <a:pt x="2509322" y="15594"/>
                    <a:pt x="2512742" y="23850"/>
                    <a:pt x="2512742" y="32459"/>
                  </a:cubicBezTo>
                  <a:lnTo>
                    <a:pt x="2512742" y="328468"/>
                  </a:lnTo>
                  <a:cubicBezTo>
                    <a:pt x="2512742" y="337077"/>
                    <a:pt x="2509322" y="345333"/>
                    <a:pt x="2503235" y="351420"/>
                  </a:cubicBezTo>
                  <a:cubicBezTo>
                    <a:pt x="2497148" y="357507"/>
                    <a:pt x="2488891" y="360927"/>
                    <a:pt x="2480283" y="360927"/>
                  </a:cubicBezTo>
                  <a:lnTo>
                    <a:pt x="32459" y="360927"/>
                  </a:lnTo>
                  <a:cubicBezTo>
                    <a:pt x="23850" y="360927"/>
                    <a:pt x="15594" y="357507"/>
                    <a:pt x="9507" y="351420"/>
                  </a:cubicBezTo>
                  <a:cubicBezTo>
                    <a:pt x="3420" y="345333"/>
                    <a:pt x="0" y="337077"/>
                    <a:pt x="0" y="328468"/>
                  </a:cubicBezTo>
                  <a:lnTo>
                    <a:pt x="0" y="32459"/>
                  </a:lnTo>
                  <a:cubicBezTo>
                    <a:pt x="0" y="23850"/>
                    <a:pt x="3420" y="15594"/>
                    <a:pt x="9507" y="9507"/>
                  </a:cubicBezTo>
                  <a:cubicBezTo>
                    <a:pt x="15594" y="3420"/>
                    <a:pt x="23850" y="0"/>
                    <a:pt x="32459" y="0"/>
                  </a:cubicBezTo>
                  <a:close/>
                </a:path>
              </a:pathLst>
            </a:custGeom>
            <a:solidFill>
              <a:srgbClr val="EF5026"/>
            </a:solidFill>
          </p:spPr>
        </p:sp>
        <p:sp>
          <p:nvSpPr>
            <p:cNvPr name="TextBox 4" id="4"/>
            <p:cNvSpPr txBox="true"/>
            <p:nvPr/>
          </p:nvSpPr>
          <p:spPr>
            <a:xfrm>
              <a:off x="0" y="-57150"/>
              <a:ext cx="2512742" cy="418077"/>
            </a:xfrm>
            <a:prstGeom prst="rect">
              <a:avLst/>
            </a:prstGeom>
          </p:spPr>
          <p:txBody>
            <a:bodyPr anchor="ctr" rtlCol="false" tIns="50800" lIns="50800" bIns="50800" rIns="50800"/>
            <a:lstStyle/>
            <a:p>
              <a:pPr algn="ctr" marL="0" indent="0" lvl="0">
                <a:lnSpc>
                  <a:spcPts val="2871"/>
                </a:lnSpc>
              </a:pPr>
            </a:p>
          </p:txBody>
        </p:sp>
      </p:grpSp>
      <p:sp>
        <p:nvSpPr>
          <p:cNvPr name="Freeform 5" id="5"/>
          <p:cNvSpPr/>
          <p:nvPr/>
        </p:nvSpPr>
        <p:spPr>
          <a:xfrm flipH="false" flipV="false" rot="0">
            <a:off x="16518415" y="979562"/>
            <a:ext cx="750613" cy="626015"/>
          </a:xfrm>
          <a:custGeom>
            <a:avLst/>
            <a:gdLst/>
            <a:ahLst/>
            <a:cxnLst/>
            <a:rect r="r" b="b" t="t" l="l"/>
            <a:pathLst>
              <a:path h="626015" w="750613">
                <a:moveTo>
                  <a:pt x="0" y="0"/>
                </a:moveTo>
                <a:lnTo>
                  <a:pt x="750613" y="0"/>
                </a:lnTo>
                <a:lnTo>
                  <a:pt x="750613" y="626015"/>
                </a:lnTo>
                <a:lnTo>
                  <a:pt x="0" y="626015"/>
                </a:lnTo>
                <a:lnTo>
                  <a:pt x="0" y="0"/>
                </a:lnTo>
                <a:close/>
              </a:path>
            </a:pathLst>
          </a:custGeom>
          <a:blipFill>
            <a:blip r:embed="rId2">
              <a:extLst>
                <a:ext uri="{96DAC541-7B7A-43D3-8B79-37D633B846F1}">
                  <asvg:svgBlip xmlns:asvg="http://schemas.microsoft.com/office/drawing/2016/SVG/main" r:embed="rId3"/>
                </a:ext>
              </a:extLst>
            </a:blip>
            <a:stretch>
              <a:fillRect l="-285065" t="0" r="0" b="-72930"/>
            </a:stretch>
          </a:blipFill>
        </p:spPr>
      </p:sp>
      <p:grpSp>
        <p:nvGrpSpPr>
          <p:cNvPr name="Group 6" id="6"/>
          <p:cNvGrpSpPr/>
          <p:nvPr/>
        </p:nvGrpSpPr>
        <p:grpSpPr>
          <a:xfrm rot="0">
            <a:off x="1028700" y="2548139"/>
            <a:ext cx="16230600" cy="2330588"/>
            <a:chOff x="0" y="0"/>
            <a:chExt cx="4274726" cy="613817"/>
          </a:xfrm>
        </p:grpSpPr>
        <p:sp>
          <p:nvSpPr>
            <p:cNvPr name="Freeform 7" id="7"/>
            <p:cNvSpPr/>
            <p:nvPr/>
          </p:nvSpPr>
          <p:spPr>
            <a:xfrm flipH="false" flipV="false" rot="0">
              <a:off x="0" y="0"/>
              <a:ext cx="4274726" cy="613817"/>
            </a:xfrm>
            <a:custGeom>
              <a:avLst/>
              <a:gdLst/>
              <a:ahLst/>
              <a:cxnLst/>
              <a:rect r="r" b="b" t="t" l="l"/>
              <a:pathLst>
                <a:path h="613817" w="4274726">
                  <a:moveTo>
                    <a:pt x="19080" y="0"/>
                  </a:moveTo>
                  <a:lnTo>
                    <a:pt x="4255646" y="0"/>
                  </a:lnTo>
                  <a:cubicBezTo>
                    <a:pt x="4266183" y="0"/>
                    <a:pt x="4274726" y="8542"/>
                    <a:pt x="4274726" y="19080"/>
                  </a:cubicBezTo>
                  <a:lnTo>
                    <a:pt x="4274726" y="594738"/>
                  </a:lnTo>
                  <a:cubicBezTo>
                    <a:pt x="4274726" y="599798"/>
                    <a:pt x="4272716" y="604651"/>
                    <a:pt x="4269137" y="608229"/>
                  </a:cubicBezTo>
                  <a:cubicBezTo>
                    <a:pt x="4265559" y="611807"/>
                    <a:pt x="4260706" y="613817"/>
                    <a:pt x="4255646" y="613817"/>
                  </a:cubicBezTo>
                  <a:lnTo>
                    <a:pt x="19080" y="613817"/>
                  </a:lnTo>
                  <a:cubicBezTo>
                    <a:pt x="8542" y="613817"/>
                    <a:pt x="0" y="605275"/>
                    <a:pt x="0" y="594738"/>
                  </a:cubicBezTo>
                  <a:lnTo>
                    <a:pt x="0" y="19080"/>
                  </a:lnTo>
                  <a:cubicBezTo>
                    <a:pt x="0" y="8542"/>
                    <a:pt x="8542" y="0"/>
                    <a:pt x="19080" y="0"/>
                  </a:cubicBezTo>
                  <a:close/>
                </a:path>
              </a:pathLst>
            </a:custGeom>
            <a:solidFill>
              <a:srgbClr val="020F8D"/>
            </a:solidFill>
          </p:spPr>
        </p:sp>
        <p:sp>
          <p:nvSpPr>
            <p:cNvPr name="TextBox 8" id="8"/>
            <p:cNvSpPr txBox="true"/>
            <p:nvPr/>
          </p:nvSpPr>
          <p:spPr>
            <a:xfrm>
              <a:off x="0" y="-57150"/>
              <a:ext cx="4274726" cy="670967"/>
            </a:xfrm>
            <a:prstGeom prst="rect">
              <a:avLst/>
            </a:prstGeom>
          </p:spPr>
          <p:txBody>
            <a:bodyPr anchor="ctr" rtlCol="false" tIns="50800" lIns="50800" bIns="50800" rIns="50800"/>
            <a:lstStyle/>
            <a:p>
              <a:pPr algn="ctr" marL="0" indent="0" lvl="0">
                <a:lnSpc>
                  <a:spcPts val="2871"/>
                </a:lnSpc>
              </a:pPr>
            </a:p>
          </p:txBody>
        </p:sp>
      </p:grpSp>
      <p:grpSp>
        <p:nvGrpSpPr>
          <p:cNvPr name="Group 9" id="9"/>
          <p:cNvGrpSpPr/>
          <p:nvPr/>
        </p:nvGrpSpPr>
        <p:grpSpPr>
          <a:xfrm rot="0">
            <a:off x="1028700" y="5440702"/>
            <a:ext cx="7796940" cy="3817598"/>
            <a:chOff x="0" y="0"/>
            <a:chExt cx="2053515" cy="1005458"/>
          </a:xfrm>
        </p:grpSpPr>
        <p:sp>
          <p:nvSpPr>
            <p:cNvPr name="Freeform 10" id="10"/>
            <p:cNvSpPr/>
            <p:nvPr/>
          </p:nvSpPr>
          <p:spPr>
            <a:xfrm flipH="false" flipV="false" rot="0">
              <a:off x="0" y="0"/>
              <a:ext cx="2053515" cy="1005458"/>
            </a:xfrm>
            <a:custGeom>
              <a:avLst/>
              <a:gdLst/>
              <a:ahLst/>
              <a:cxnLst/>
              <a:rect r="r" b="b" t="t" l="l"/>
              <a:pathLst>
                <a:path h="1005458" w="2053515">
                  <a:moveTo>
                    <a:pt x="39718" y="0"/>
                  </a:moveTo>
                  <a:lnTo>
                    <a:pt x="2013797" y="0"/>
                  </a:lnTo>
                  <a:cubicBezTo>
                    <a:pt x="2024331" y="0"/>
                    <a:pt x="2034434" y="4185"/>
                    <a:pt x="2041882" y="11633"/>
                  </a:cubicBezTo>
                  <a:cubicBezTo>
                    <a:pt x="2049331" y="19082"/>
                    <a:pt x="2053515" y="29184"/>
                    <a:pt x="2053515" y="39718"/>
                  </a:cubicBezTo>
                  <a:lnTo>
                    <a:pt x="2053515" y="965740"/>
                  </a:lnTo>
                  <a:cubicBezTo>
                    <a:pt x="2053515" y="976274"/>
                    <a:pt x="2049331" y="986376"/>
                    <a:pt x="2041882" y="993825"/>
                  </a:cubicBezTo>
                  <a:cubicBezTo>
                    <a:pt x="2034434" y="1001273"/>
                    <a:pt x="2024331" y="1005458"/>
                    <a:pt x="2013797" y="1005458"/>
                  </a:cubicBezTo>
                  <a:lnTo>
                    <a:pt x="39718" y="1005458"/>
                  </a:lnTo>
                  <a:cubicBezTo>
                    <a:pt x="29184" y="1005458"/>
                    <a:pt x="19082" y="1001273"/>
                    <a:pt x="11633" y="993825"/>
                  </a:cubicBezTo>
                  <a:cubicBezTo>
                    <a:pt x="4185" y="986376"/>
                    <a:pt x="0" y="976274"/>
                    <a:pt x="0" y="965740"/>
                  </a:cubicBezTo>
                  <a:lnTo>
                    <a:pt x="0" y="39718"/>
                  </a:lnTo>
                  <a:cubicBezTo>
                    <a:pt x="0" y="29184"/>
                    <a:pt x="4185" y="19082"/>
                    <a:pt x="11633" y="11633"/>
                  </a:cubicBezTo>
                  <a:cubicBezTo>
                    <a:pt x="19082" y="4185"/>
                    <a:pt x="29184" y="0"/>
                    <a:pt x="39718" y="0"/>
                  </a:cubicBezTo>
                  <a:close/>
                </a:path>
              </a:pathLst>
            </a:custGeom>
            <a:solidFill>
              <a:srgbClr val="EF5026"/>
            </a:solidFill>
          </p:spPr>
        </p:sp>
        <p:sp>
          <p:nvSpPr>
            <p:cNvPr name="TextBox 11" id="11"/>
            <p:cNvSpPr txBox="true"/>
            <p:nvPr/>
          </p:nvSpPr>
          <p:spPr>
            <a:xfrm>
              <a:off x="0" y="-57150"/>
              <a:ext cx="2053515" cy="1062608"/>
            </a:xfrm>
            <a:prstGeom prst="rect">
              <a:avLst/>
            </a:prstGeom>
          </p:spPr>
          <p:txBody>
            <a:bodyPr anchor="ctr" rtlCol="false" tIns="50800" lIns="50800" bIns="50800" rIns="50800"/>
            <a:lstStyle/>
            <a:p>
              <a:pPr algn="ctr" marL="0" indent="0" lvl="0">
                <a:lnSpc>
                  <a:spcPts val="2871"/>
                </a:lnSpc>
              </a:pPr>
            </a:p>
          </p:txBody>
        </p:sp>
      </p:grpSp>
      <p:grpSp>
        <p:nvGrpSpPr>
          <p:cNvPr name="Group 12" id="12"/>
          <p:cNvGrpSpPr/>
          <p:nvPr/>
        </p:nvGrpSpPr>
        <p:grpSpPr>
          <a:xfrm rot="0">
            <a:off x="9412543" y="5440702"/>
            <a:ext cx="7856486" cy="3817598"/>
            <a:chOff x="0" y="0"/>
            <a:chExt cx="2069198" cy="1005458"/>
          </a:xfrm>
        </p:grpSpPr>
        <p:sp>
          <p:nvSpPr>
            <p:cNvPr name="Freeform 13" id="13"/>
            <p:cNvSpPr/>
            <p:nvPr/>
          </p:nvSpPr>
          <p:spPr>
            <a:xfrm flipH="false" flipV="false" rot="0">
              <a:off x="0" y="0"/>
              <a:ext cx="2069198" cy="1005458"/>
            </a:xfrm>
            <a:custGeom>
              <a:avLst/>
              <a:gdLst/>
              <a:ahLst/>
              <a:cxnLst/>
              <a:rect r="r" b="b" t="t" l="l"/>
              <a:pathLst>
                <a:path h="1005458" w="2069198">
                  <a:moveTo>
                    <a:pt x="39417" y="0"/>
                  </a:moveTo>
                  <a:lnTo>
                    <a:pt x="2029781" y="0"/>
                  </a:lnTo>
                  <a:cubicBezTo>
                    <a:pt x="2040235" y="0"/>
                    <a:pt x="2050261" y="4153"/>
                    <a:pt x="2057653" y="11545"/>
                  </a:cubicBezTo>
                  <a:cubicBezTo>
                    <a:pt x="2065045" y="18937"/>
                    <a:pt x="2069198" y="28963"/>
                    <a:pt x="2069198" y="39417"/>
                  </a:cubicBezTo>
                  <a:lnTo>
                    <a:pt x="2069198" y="966041"/>
                  </a:lnTo>
                  <a:cubicBezTo>
                    <a:pt x="2069198" y="976495"/>
                    <a:pt x="2065045" y="986521"/>
                    <a:pt x="2057653" y="993913"/>
                  </a:cubicBezTo>
                  <a:cubicBezTo>
                    <a:pt x="2050261" y="1001305"/>
                    <a:pt x="2040235" y="1005458"/>
                    <a:pt x="2029781" y="1005458"/>
                  </a:cubicBezTo>
                  <a:lnTo>
                    <a:pt x="39417" y="1005458"/>
                  </a:lnTo>
                  <a:cubicBezTo>
                    <a:pt x="28963" y="1005458"/>
                    <a:pt x="18937" y="1001305"/>
                    <a:pt x="11545" y="993913"/>
                  </a:cubicBezTo>
                  <a:cubicBezTo>
                    <a:pt x="4153" y="986521"/>
                    <a:pt x="0" y="976495"/>
                    <a:pt x="0" y="966041"/>
                  </a:cubicBezTo>
                  <a:lnTo>
                    <a:pt x="0" y="39417"/>
                  </a:lnTo>
                  <a:cubicBezTo>
                    <a:pt x="0" y="28963"/>
                    <a:pt x="4153" y="18937"/>
                    <a:pt x="11545" y="11545"/>
                  </a:cubicBezTo>
                  <a:cubicBezTo>
                    <a:pt x="18937" y="4153"/>
                    <a:pt x="28963" y="0"/>
                    <a:pt x="39417" y="0"/>
                  </a:cubicBezTo>
                  <a:close/>
                </a:path>
              </a:pathLst>
            </a:custGeom>
            <a:solidFill>
              <a:srgbClr val="FDBB21"/>
            </a:solidFill>
          </p:spPr>
        </p:sp>
        <p:sp>
          <p:nvSpPr>
            <p:cNvPr name="TextBox 14" id="14"/>
            <p:cNvSpPr txBox="true"/>
            <p:nvPr/>
          </p:nvSpPr>
          <p:spPr>
            <a:xfrm>
              <a:off x="0" y="-57150"/>
              <a:ext cx="2069198" cy="1062608"/>
            </a:xfrm>
            <a:prstGeom prst="rect">
              <a:avLst/>
            </a:prstGeom>
          </p:spPr>
          <p:txBody>
            <a:bodyPr anchor="ctr" rtlCol="false" tIns="50800" lIns="50800" bIns="50800" rIns="50800"/>
            <a:lstStyle/>
            <a:p>
              <a:pPr algn="ctr" marL="0" indent="0" lvl="0">
                <a:lnSpc>
                  <a:spcPts val="2871"/>
                </a:lnSpc>
              </a:pPr>
            </a:p>
          </p:txBody>
        </p:sp>
      </p:grpSp>
      <p:sp>
        <p:nvSpPr>
          <p:cNvPr name="Freeform 15" id="15"/>
          <p:cNvSpPr/>
          <p:nvPr/>
        </p:nvSpPr>
        <p:spPr>
          <a:xfrm flipH="false" flipV="false" rot="0">
            <a:off x="15051073" y="2661469"/>
            <a:ext cx="1984930" cy="2081185"/>
          </a:xfrm>
          <a:custGeom>
            <a:avLst/>
            <a:gdLst/>
            <a:ahLst/>
            <a:cxnLst/>
            <a:rect r="r" b="b" t="t" l="l"/>
            <a:pathLst>
              <a:path h="2081185" w="1984930">
                <a:moveTo>
                  <a:pt x="0" y="0"/>
                </a:moveTo>
                <a:lnTo>
                  <a:pt x="1984931" y="0"/>
                </a:lnTo>
                <a:lnTo>
                  <a:pt x="1984931" y="2081185"/>
                </a:lnTo>
                <a:lnTo>
                  <a:pt x="0" y="2081185"/>
                </a:lnTo>
                <a:lnTo>
                  <a:pt x="0" y="0"/>
                </a:lnTo>
                <a:close/>
              </a:path>
            </a:pathLst>
          </a:custGeom>
          <a:blipFill>
            <a:blip r:embed="rId4"/>
            <a:stretch>
              <a:fillRect l="0" t="0" r="0" b="0"/>
            </a:stretch>
          </a:blipFill>
        </p:spPr>
      </p:sp>
      <p:sp>
        <p:nvSpPr>
          <p:cNvPr name="TextBox 16" id="16"/>
          <p:cNvSpPr txBox="true"/>
          <p:nvPr/>
        </p:nvSpPr>
        <p:spPr>
          <a:xfrm rot="0">
            <a:off x="4654435" y="1119922"/>
            <a:ext cx="1662550" cy="265824"/>
          </a:xfrm>
          <a:prstGeom prst="rect">
            <a:avLst/>
          </a:prstGeom>
        </p:spPr>
        <p:txBody>
          <a:bodyPr anchor="t" rtlCol="false" tIns="0" lIns="0" bIns="0" rIns="0">
            <a:spAutoFit/>
          </a:bodyPr>
          <a:lstStyle/>
          <a:p>
            <a:pPr algn="ctr" marL="0" indent="0" lvl="0">
              <a:lnSpc>
                <a:spcPts val="2148"/>
              </a:lnSpc>
              <a:spcBef>
                <a:spcPct val="0"/>
              </a:spcBef>
            </a:pPr>
            <a:r>
              <a:rPr lang="en-US" sz="1534" spc="3">
                <a:solidFill>
                  <a:srgbClr val="FFFFFF"/>
                </a:solidFill>
                <a:latin typeface="Poppins"/>
                <a:ea typeface="Poppins"/>
                <a:cs typeface="Poppins"/>
                <a:sym typeface="Poppins"/>
              </a:rPr>
              <a:t>Home</a:t>
            </a:r>
          </a:p>
        </p:txBody>
      </p:sp>
      <p:sp>
        <p:nvSpPr>
          <p:cNvPr name="TextBox 17" id="17"/>
          <p:cNvSpPr txBox="true"/>
          <p:nvPr/>
        </p:nvSpPr>
        <p:spPr>
          <a:xfrm rot="0">
            <a:off x="6918558" y="1122135"/>
            <a:ext cx="1907082" cy="265824"/>
          </a:xfrm>
          <a:prstGeom prst="rect">
            <a:avLst/>
          </a:prstGeom>
        </p:spPr>
        <p:txBody>
          <a:bodyPr anchor="t" rtlCol="false" tIns="0" lIns="0" bIns="0" rIns="0">
            <a:spAutoFit/>
          </a:bodyPr>
          <a:lstStyle/>
          <a:p>
            <a:pPr algn="ctr" marL="0" indent="0" lvl="0">
              <a:lnSpc>
                <a:spcPts val="2148"/>
              </a:lnSpc>
              <a:spcBef>
                <a:spcPct val="0"/>
              </a:spcBef>
            </a:pPr>
            <a:r>
              <a:rPr lang="en-US" sz="1534" spc="3">
                <a:solidFill>
                  <a:srgbClr val="FFFFFF"/>
                </a:solidFill>
                <a:latin typeface="Poppins"/>
                <a:ea typeface="Poppins"/>
                <a:cs typeface="Poppins"/>
                <a:sym typeface="Poppins"/>
              </a:rPr>
              <a:t>About</a:t>
            </a:r>
          </a:p>
        </p:txBody>
      </p:sp>
      <p:sp>
        <p:nvSpPr>
          <p:cNvPr name="TextBox 18" id="18"/>
          <p:cNvSpPr txBox="true"/>
          <p:nvPr/>
        </p:nvSpPr>
        <p:spPr>
          <a:xfrm rot="0">
            <a:off x="9626180" y="1122135"/>
            <a:ext cx="1589190" cy="265824"/>
          </a:xfrm>
          <a:prstGeom prst="rect">
            <a:avLst/>
          </a:prstGeom>
        </p:spPr>
        <p:txBody>
          <a:bodyPr anchor="t" rtlCol="false" tIns="0" lIns="0" bIns="0" rIns="0">
            <a:spAutoFit/>
          </a:bodyPr>
          <a:lstStyle/>
          <a:p>
            <a:pPr algn="ctr" marL="0" indent="0" lvl="0">
              <a:lnSpc>
                <a:spcPts val="2148"/>
              </a:lnSpc>
              <a:spcBef>
                <a:spcPct val="0"/>
              </a:spcBef>
            </a:pPr>
            <a:r>
              <a:rPr lang="en-US" b="true" sz="1534" spc="3">
                <a:solidFill>
                  <a:srgbClr val="FFFFFF"/>
                </a:solidFill>
                <a:latin typeface="Poppins Bold"/>
                <a:ea typeface="Poppins Bold"/>
                <a:cs typeface="Poppins Bold"/>
                <a:sym typeface="Poppins Bold"/>
              </a:rPr>
              <a:t>Content</a:t>
            </a:r>
          </a:p>
        </p:txBody>
      </p:sp>
      <p:sp>
        <p:nvSpPr>
          <p:cNvPr name="TextBox 19" id="19"/>
          <p:cNvSpPr txBox="true"/>
          <p:nvPr/>
        </p:nvSpPr>
        <p:spPr>
          <a:xfrm rot="0">
            <a:off x="11559765" y="1119922"/>
            <a:ext cx="2224975" cy="265824"/>
          </a:xfrm>
          <a:prstGeom prst="rect">
            <a:avLst/>
          </a:prstGeom>
        </p:spPr>
        <p:txBody>
          <a:bodyPr anchor="t" rtlCol="false" tIns="0" lIns="0" bIns="0" rIns="0">
            <a:spAutoFit/>
          </a:bodyPr>
          <a:lstStyle/>
          <a:p>
            <a:pPr algn="ctr" marL="0" indent="0" lvl="0">
              <a:lnSpc>
                <a:spcPts val="2148"/>
              </a:lnSpc>
              <a:spcBef>
                <a:spcPct val="0"/>
              </a:spcBef>
            </a:pPr>
            <a:r>
              <a:rPr lang="en-US" sz="1534" spc="3">
                <a:solidFill>
                  <a:srgbClr val="FFFFFF"/>
                </a:solidFill>
                <a:latin typeface="Poppins"/>
                <a:ea typeface="Poppins"/>
                <a:cs typeface="Poppins"/>
                <a:sym typeface="Poppins"/>
              </a:rPr>
              <a:t>Others</a:t>
            </a:r>
          </a:p>
        </p:txBody>
      </p:sp>
      <p:sp>
        <p:nvSpPr>
          <p:cNvPr name="TextBox 20" id="20"/>
          <p:cNvSpPr txBox="true"/>
          <p:nvPr/>
        </p:nvSpPr>
        <p:spPr>
          <a:xfrm rot="0">
            <a:off x="1028700" y="833821"/>
            <a:ext cx="1761862" cy="450740"/>
          </a:xfrm>
          <a:prstGeom prst="rect">
            <a:avLst/>
          </a:prstGeom>
        </p:spPr>
        <p:txBody>
          <a:bodyPr anchor="t" rtlCol="false" tIns="0" lIns="0" bIns="0" rIns="0">
            <a:spAutoFit/>
          </a:bodyPr>
          <a:lstStyle/>
          <a:p>
            <a:pPr algn="l" marL="0" indent="0" lvl="0">
              <a:lnSpc>
                <a:spcPts val="3506"/>
              </a:lnSpc>
              <a:spcBef>
                <a:spcPct val="0"/>
              </a:spcBef>
            </a:pPr>
            <a:r>
              <a:rPr lang="en-US" b="true" sz="2504" spc="5">
                <a:solidFill>
                  <a:srgbClr val="020F8D"/>
                </a:solidFill>
                <a:latin typeface="Poppins Heavy"/>
                <a:ea typeface="Poppins Heavy"/>
                <a:cs typeface="Poppins Heavy"/>
                <a:sym typeface="Poppins Heavy"/>
              </a:rPr>
              <a:t>Thynk</a:t>
            </a:r>
          </a:p>
        </p:txBody>
      </p:sp>
      <p:sp>
        <p:nvSpPr>
          <p:cNvPr name="TextBox 21" id="21"/>
          <p:cNvSpPr txBox="true"/>
          <p:nvPr/>
        </p:nvSpPr>
        <p:spPr>
          <a:xfrm rot="0">
            <a:off x="1028700" y="1154882"/>
            <a:ext cx="1761862" cy="450740"/>
          </a:xfrm>
          <a:prstGeom prst="rect">
            <a:avLst/>
          </a:prstGeom>
        </p:spPr>
        <p:txBody>
          <a:bodyPr anchor="t" rtlCol="false" tIns="0" lIns="0" bIns="0" rIns="0">
            <a:spAutoFit/>
          </a:bodyPr>
          <a:lstStyle/>
          <a:p>
            <a:pPr algn="l" marL="0" indent="0" lvl="0">
              <a:lnSpc>
                <a:spcPts val="3506"/>
              </a:lnSpc>
              <a:spcBef>
                <a:spcPct val="0"/>
              </a:spcBef>
            </a:pPr>
            <a:r>
              <a:rPr lang="en-US" sz="2504" spc="5">
                <a:solidFill>
                  <a:srgbClr val="020F8D"/>
                </a:solidFill>
                <a:latin typeface="Poppins"/>
                <a:ea typeface="Poppins"/>
                <a:cs typeface="Poppins"/>
                <a:sym typeface="Poppins"/>
              </a:rPr>
              <a:t>Unlimited.</a:t>
            </a:r>
          </a:p>
        </p:txBody>
      </p:sp>
      <p:sp>
        <p:nvSpPr>
          <p:cNvPr name="TextBox 22" id="22"/>
          <p:cNvSpPr txBox="true"/>
          <p:nvPr/>
        </p:nvSpPr>
        <p:spPr>
          <a:xfrm rot="0">
            <a:off x="1823906" y="3213987"/>
            <a:ext cx="12848534" cy="737779"/>
          </a:xfrm>
          <a:prstGeom prst="rect">
            <a:avLst/>
          </a:prstGeom>
        </p:spPr>
        <p:txBody>
          <a:bodyPr anchor="t" rtlCol="false" tIns="0" lIns="0" bIns="0" rIns="0">
            <a:spAutoFit/>
          </a:bodyPr>
          <a:lstStyle/>
          <a:p>
            <a:pPr algn="l" marL="0" indent="0" lvl="0">
              <a:lnSpc>
                <a:spcPts val="5294"/>
              </a:lnSpc>
            </a:pPr>
            <a:r>
              <a:rPr lang="en-US" b="true" sz="5190" spc="-295">
                <a:solidFill>
                  <a:srgbClr val="FFFFFF"/>
                </a:solidFill>
                <a:latin typeface="Poppins Bold"/>
                <a:ea typeface="Poppins Bold"/>
                <a:cs typeface="Poppins Bold"/>
                <a:sym typeface="Poppins Bold"/>
              </a:rPr>
              <a:t>Common External Factors Causing Delays</a:t>
            </a:r>
          </a:p>
        </p:txBody>
      </p:sp>
      <p:sp>
        <p:nvSpPr>
          <p:cNvPr name="TextBox 23" id="23"/>
          <p:cNvSpPr txBox="true"/>
          <p:nvPr/>
        </p:nvSpPr>
        <p:spPr>
          <a:xfrm rot="0">
            <a:off x="1909631" y="6221868"/>
            <a:ext cx="6048193" cy="2143910"/>
          </a:xfrm>
          <a:prstGeom prst="rect">
            <a:avLst/>
          </a:prstGeom>
        </p:spPr>
        <p:txBody>
          <a:bodyPr anchor="t" rtlCol="false" tIns="0" lIns="0" bIns="0" rIns="0">
            <a:spAutoFit/>
          </a:bodyPr>
          <a:lstStyle/>
          <a:p>
            <a:pPr algn="just" marL="0" indent="0" lvl="0">
              <a:lnSpc>
                <a:spcPts val="2133"/>
              </a:lnSpc>
            </a:pPr>
            <a:r>
              <a:rPr lang="en-US" sz="1720" spc="-75">
                <a:solidFill>
                  <a:srgbClr val="FFFFFF"/>
                </a:solidFill>
                <a:latin typeface="Poppins"/>
                <a:ea typeface="Poppins"/>
                <a:cs typeface="Poppins"/>
                <a:sym typeface="Poppins"/>
              </a:rPr>
              <a:t>External factors beyond a business's control can significantly disrupt delivery timelines:</a:t>
            </a:r>
          </a:p>
          <a:p>
            <a:pPr algn="just" marL="0" indent="0" lvl="0">
              <a:lnSpc>
                <a:spcPts val="2133"/>
              </a:lnSpc>
            </a:pPr>
            <a:r>
              <a:rPr lang="en-US" sz="1720" spc="-75">
                <a:solidFill>
                  <a:srgbClr val="FFFFFF"/>
                </a:solidFill>
                <a:latin typeface="Poppins"/>
                <a:ea typeface="Poppins"/>
                <a:cs typeface="Poppins"/>
                <a:sym typeface="Poppins"/>
              </a:rPr>
              <a:t>• Supplier delays or disruptions in the supply chain</a:t>
            </a:r>
          </a:p>
          <a:p>
            <a:pPr algn="just" marL="0" indent="0" lvl="0">
              <a:lnSpc>
                <a:spcPts val="2133"/>
              </a:lnSpc>
            </a:pPr>
            <a:r>
              <a:rPr lang="en-US" sz="1720" spc="-75">
                <a:solidFill>
                  <a:srgbClr val="FFFFFF"/>
                </a:solidFill>
                <a:latin typeface="Poppins"/>
                <a:ea typeface="Poppins"/>
                <a:cs typeface="Poppins"/>
                <a:sym typeface="Poppins"/>
              </a:rPr>
              <a:t>• Transportation and logistics bottlenecks</a:t>
            </a:r>
          </a:p>
          <a:p>
            <a:pPr algn="just" marL="0" indent="0" lvl="0">
              <a:lnSpc>
                <a:spcPts val="2133"/>
              </a:lnSpc>
            </a:pPr>
            <a:r>
              <a:rPr lang="en-US" sz="1720" spc="-75">
                <a:solidFill>
                  <a:srgbClr val="FFFFFF"/>
                </a:solidFill>
                <a:latin typeface="Poppins"/>
                <a:ea typeface="Poppins"/>
                <a:cs typeface="Poppins"/>
                <a:sym typeface="Poppins"/>
              </a:rPr>
              <a:t>• Severe weather and natural events</a:t>
            </a:r>
          </a:p>
          <a:p>
            <a:pPr algn="just" marL="0" indent="0" lvl="0">
              <a:lnSpc>
                <a:spcPts val="2133"/>
              </a:lnSpc>
            </a:pPr>
            <a:r>
              <a:rPr lang="en-US" sz="1720" spc="-75">
                <a:solidFill>
                  <a:srgbClr val="FFFFFF"/>
                </a:solidFill>
                <a:latin typeface="Poppins"/>
                <a:ea typeface="Poppins"/>
                <a:cs typeface="Poppins"/>
                <a:sym typeface="Poppins"/>
              </a:rPr>
              <a:t>• Regulatory or customs clearance issues</a:t>
            </a:r>
          </a:p>
          <a:p>
            <a:pPr algn="just" marL="0" indent="0" lvl="0">
              <a:lnSpc>
                <a:spcPts val="2133"/>
              </a:lnSpc>
            </a:pPr>
            <a:r>
              <a:rPr lang="en-US" sz="1720" spc="-75">
                <a:solidFill>
                  <a:srgbClr val="FFFFFF"/>
                </a:solidFill>
                <a:latin typeface="Poppins"/>
                <a:ea typeface="Poppins"/>
                <a:cs typeface="Poppins"/>
                <a:sym typeface="Poppins"/>
              </a:rPr>
              <a:t>Proactive planning and resilient supply chains help mitigate these risks.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44174" y="615425"/>
            <a:ext cx="9540566" cy="1370396"/>
            <a:chOff x="0" y="0"/>
            <a:chExt cx="2512742" cy="360927"/>
          </a:xfrm>
        </p:grpSpPr>
        <p:sp>
          <p:nvSpPr>
            <p:cNvPr name="Freeform 3" id="3"/>
            <p:cNvSpPr/>
            <p:nvPr/>
          </p:nvSpPr>
          <p:spPr>
            <a:xfrm flipH="false" flipV="false" rot="0">
              <a:off x="0" y="0"/>
              <a:ext cx="2512742" cy="360927"/>
            </a:xfrm>
            <a:custGeom>
              <a:avLst/>
              <a:gdLst/>
              <a:ahLst/>
              <a:cxnLst/>
              <a:rect r="r" b="b" t="t" l="l"/>
              <a:pathLst>
                <a:path h="360927" w="2512742">
                  <a:moveTo>
                    <a:pt x="32459" y="0"/>
                  </a:moveTo>
                  <a:lnTo>
                    <a:pt x="2480283" y="0"/>
                  </a:lnTo>
                  <a:cubicBezTo>
                    <a:pt x="2488891" y="0"/>
                    <a:pt x="2497148" y="3420"/>
                    <a:pt x="2503235" y="9507"/>
                  </a:cubicBezTo>
                  <a:cubicBezTo>
                    <a:pt x="2509322" y="15594"/>
                    <a:pt x="2512742" y="23850"/>
                    <a:pt x="2512742" y="32459"/>
                  </a:cubicBezTo>
                  <a:lnTo>
                    <a:pt x="2512742" y="328468"/>
                  </a:lnTo>
                  <a:cubicBezTo>
                    <a:pt x="2512742" y="337077"/>
                    <a:pt x="2509322" y="345333"/>
                    <a:pt x="2503235" y="351420"/>
                  </a:cubicBezTo>
                  <a:cubicBezTo>
                    <a:pt x="2497148" y="357507"/>
                    <a:pt x="2488891" y="360927"/>
                    <a:pt x="2480283" y="360927"/>
                  </a:cubicBezTo>
                  <a:lnTo>
                    <a:pt x="32459" y="360927"/>
                  </a:lnTo>
                  <a:cubicBezTo>
                    <a:pt x="23850" y="360927"/>
                    <a:pt x="15594" y="357507"/>
                    <a:pt x="9507" y="351420"/>
                  </a:cubicBezTo>
                  <a:cubicBezTo>
                    <a:pt x="3420" y="345333"/>
                    <a:pt x="0" y="337077"/>
                    <a:pt x="0" y="328468"/>
                  </a:cubicBezTo>
                  <a:lnTo>
                    <a:pt x="0" y="32459"/>
                  </a:lnTo>
                  <a:cubicBezTo>
                    <a:pt x="0" y="23850"/>
                    <a:pt x="3420" y="15594"/>
                    <a:pt x="9507" y="9507"/>
                  </a:cubicBezTo>
                  <a:cubicBezTo>
                    <a:pt x="15594" y="3420"/>
                    <a:pt x="23850" y="0"/>
                    <a:pt x="32459" y="0"/>
                  </a:cubicBezTo>
                  <a:close/>
                </a:path>
              </a:pathLst>
            </a:custGeom>
            <a:solidFill>
              <a:srgbClr val="EF5026"/>
            </a:solidFill>
          </p:spPr>
        </p:sp>
        <p:sp>
          <p:nvSpPr>
            <p:cNvPr name="TextBox 4" id="4"/>
            <p:cNvSpPr txBox="true"/>
            <p:nvPr/>
          </p:nvSpPr>
          <p:spPr>
            <a:xfrm>
              <a:off x="0" y="-57150"/>
              <a:ext cx="2512742" cy="418077"/>
            </a:xfrm>
            <a:prstGeom prst="rect">
              <a:avLst/>
            </a:prstGeom>
          </p:spPr>
          <p:txBody>
            <a:bodyPr anchor="ctr" rtlCol="false" tIns="50800" lIns="50800" bIns="50800" rIns="50800"/>
            <a:lstStyle/>
            <a:p>
              <a:pPr algn="ctr" marL="0" indent="0" lvl="0">
                <a:lnSpc>
                  <a:spcPts val="2871"/>
                </a:lnSpc>
              </a:pPr>
            </a:p>
          </p:txBody>
        </p:sp>
      </p:grpSp>
      <p:sp>
        <p:nvSpPr>
          <p:cNvPr name="Freeform 5" id="5"/>
          <p:cNvSpPr/>
          <p:nvPr/>
        </p:nvSpPr>
        <p:spPr>
          <a:xfrm flipH="false" flipV="false" rot="0">
            <a:off x="16518415" y="979562"/>
            <a:ext cx="750613" cy="626015"/>
          </a:xfrm>
          <a:custGeom>
            <a:avLst/>
            <a:gdLst/>
            <a:ahLst/>
            <a:cxnLst/>
            <a:rect r="r" b="b" t="t" l="l"/>
            <a:pathLst>
              <a:path h="626015" w="750613">
                <a:moveTo>
                  <a:pt x="0" y="0"/>
                </a:moveTo>
                <a:lnTo>
                  <a:pt x="750613" y="0"/>
                </a:lnTo>
                <a:lnTo>
                  <a:pt x="750613" y="626015"/>
                </a:lnTo>
                <a:lnTo>
                  <a:pt x="0" y="626015"/>
                </a:lnTo>
                <a:lnTo>
                  <a:pt x="0" y="0"/>
                </a:lnTo>
                <a:close/>
              </a:path>
            </a:pathLst>
          </a:custGeom>
          <a:blipFill>
            <a:blip r:embed="rId2">
              <a:extLst>
                <a:ext uri="{96DAC541-7B7A-43D3-8B79-37D633B846F1}">
                  <asvg:svgBlip xmlns:asvg="http://schemas.microsoft.com/office/drawing/2016/SVG/main" r:embed="rId3"/>
                </a:ext>
              </a:extLst>
            </a:blip>
            <a:stretch>
              <a:fillRect l="-285065" t="0" r="0" b="-72930"/>
            </a:stretch>
          </a:blipFill>
        </p:spPr>
      </p:sp>
      <p:grpSp>
        <p:nvGrpSpPr>
          <p:cNvPr name="Group 6" id="6"/>
          <p:cNvGrpSpPr/>
          <p:nvPr/>
        </p:nvGrpSpPr>
        <p:grpSpPr>
          <a:xfrm rot="0">
            <a:off x="9014457" y="2887610"/>
            <a:ext cx="8254571" cy="6370690"/>
            <a:chOff x="0" y="0"/>
            <a:chExt cx="2174044" cy="1677877"/>
          </a:xfrm>
        </p:grpSpPr>
        <p:sp>
          <p:nvSpPr>
            <p:cNvPr name="Freeform 7" id="7"/>
            <p:cNvSpPr/>
            <p:nvPr/>
          </p:nvSpPr>
          <p:spPr>
            <a:xfrm flipH="false" flipV="false" rot="0">
              <a:off x="0" y="0"/>
              <a:ext cx="2174043" cy="1677877"/>
            </a:xfrm>
            <a:custGeom>
              <a:avLst/>
              <a:gdLst/>
              <a:ahLst/>
              <a:cxnLst/>
              <a:rect r="r" b="b" t="t" l="l"/>
              <a:pathLst>
                <a:path h="1677877" w="2174043">
                  <a:moveTo>
                    <a:pt x="37516" y="0"/>
                  </a:moveTo>
                  <a:lnTo>
                    <a:pt x="2136528" y="0"/>
                  </a:lnTo>
                  <a:cubicBezTo>
                    <a:pt x="2146478" y="0"/>
                    <a:pt x="2156020" y="3953"/>
                    <a:pt x="2163055" y="10988"/>
                  </a:cubicBezTo>
                  <a:cubicBezTo>
                    <a:pt x="2170091" y="18024"/>
                    <a:pt x="2174043" y="27566"/>
                    <a:pt x="2174043" y="37516"/>
                  </a:cubicBezTo>
                  <a:lnTo>
                    <a:pt x="2174043" y="1640362"/>
                  </a:lnTo>
                  <a:cubicBezTo>
                    <a:pt x="2174043" y="1650311"/>
                    <a:pt x="2170091" y="1659854"/>
                    <a:pt x="2163055" y="1666889"/>
                  </a:cubicBezTo>
                  <a:cubicBezTo>
                    <a:pt x="2156020" y="1673925"/>
                    <a:pt x="2146478" y="1677877"/>
                    <a:pt x="2136528" y="1677877"/>
                  </a:cubicBezTo>
                  <a:lnTo>
                    <a:pt x="37516" y="1677877"/>
                  </a:lnTo>
                  <a:cubicBezTo>
                    <a:pt x="27566" y="1677877"/>
                    <a:pt x="18024" y="1673925"/>
                    <a:pt x="10988" y="1666889"/>
                  </a:cubicBezTo>
                  <a:cubicBezTo>
                    <a:pt x="3953" y="1659854"/>
                    <a:pt x="0" y="1650311"/>
                    <a:pt x="0" y="1640362"/>
                  </a:cubicBezTo>
                  <a:lnTo>
                    <a:pt x="0" y="37516"/>
                  </a:lnTo>
                  <a:cubicBezTo>
                    <a:pt x="0" y="27566"/>
                    <a:pt x="3953" y="18024"/>
                    <a:pt x="10988" y="10988"/>
                  </a:cubicBezTo>
                  <a:cubicBezTo>
                    <a:pt x="18024" y="3953"/>
                    <a:pt x="27566" y="0"/>
                    <a:pt x="37516" y="0"/>
                  </a:cubicBezTo>
                  <a:close/>
                </a:path>
              </a:pathLst>
            </a:custGeom>
            <a:solidFill>
              <a:srgbClr val="EF5026"/>
            </a:solidFill>
          </p:spPr>
        </p:sp>
        <p:sp>
          <p:nvSpPr>
            <p:cNvPr name="TextBox 8" id="8"/>
            <p:cNvSpPr txBox="true"/>
            <p:nvPr/>
          </p:nvSpPr>
          <p:spPr>
            <a:xfrm>
              <a:off x="0" y="-57150"/>
              <a:ext cx="2174044" cy="1735027"/>
            </a:xfrm>
            <a:prstGeom prst="rect">
              <a:avLst/>
            </a:prstGeom>
          </p:spPr>
          <p:txBody>
            <a:bodyPr anchor="ctr" rtlCol="false" tIns="50800" lIns="50800" bIns="50800" rIns="50800"/>
            <a:lstStyle/>
            <a:p>
              <a:pPr algn="ctr" marL="0" indent="0" lvl="0">
                <a:lnSpc>
                  <a:spcPts val="2871"/>
                </a:lnSpc>
              </a:pPr>
            </a:p>
          </p:txBody>
        </p:sp>
      </p:grpSp>
      <p:grpSp>
        <p:nvGrpSpPr>
          <p:cNvPr name="Group 9" id="9"/>
          <p:cNvGrpSpPr/>
          <p:nvPr/>
        </p:nvGrpSpPr>
        <p:grpSpPr>
          <a:xfrm rot="0">
            <a:off x="996850" y="8236273"/>
            <a:ext cx="7315171" cy="1022027"/>
            <a:chOff x="0" y="0"/>
            <a:chExt cx="1926629" cy="269176"/>
          </a:xfrm>
        </p:grpSpPr>
        <p:sp>
          <p:nvSpPr>
            <p:cNvPr name="Freeform 10" id="10"/>
            <p:cNvSpPr/>
            <p:nvPr/>
          </p:nvSpPr>
          <p:spPr>
            <a:xfrm flipH="false" flipV="false" rot="0">
              <a:off x="0" y="0"/>
              <a:ext cx="1926629" cy="269176"/>
            </a:xfrm>
            <a:custGeom>
              <a:avLst/>
              <a:gdLst/>
              <a:ahLst/>
              <a:cxnLst/>
              <a:rect r="r" b="b" t="t" l="l"/>
              <a:pathLst>
                <a:path h="269176" w="1926629">
                  <a:moveTo>
                    <a:pt x="42333" y="0"/>
                  </a:moveTo>
                  <a:lnTo>
                    <a:pt x="1884296" y="0"/>
                  </a:lnTo>
                  <a:cubicBezTo>
                    <a:pt x="1907676" y="0"/>
                    <a:pt x="1926629" y="18953"/>
                    <a:pt x="1926629" y="42333"/>
                  </a:cubicBezTo>
                  <a:lnTo>
                    <a:pt x="1926629" y="226842"/>
                  </a:lnTo>
                  <a:cubicBezTo>
                    <a:pt x="1926629" y="238070"/>
                    <a:pt x="1922169" y="248838"/>
                    <a:pt x="1914230" y="256777"/>
                  </a:cubicBezTo>
                  <a:cubicBezTo>
                    <a:pt x="1906291" y="264716"/>
                    <a:pt x="1895523" y="269176"/>
                    <a:pt x="1884296" y="269176"/>
                  </a:cubicBezTo>
                  <a:lnTo>
                    <a:pt x="42333" y="269176"/>
                  </a:lnTo>
                  <a:cubicBezTo>
                    <a:pt x="31106" y="269176"/>
                    <a:pt x="20338" y="264716"/>
                    <a:pt x="12399" y="256777"/>
                  </a:cubicBezTo>
                  <a:cubicBezTo>
                    <a:pt x="4460" y="248838"/>
                    <a:pt x="0" y="238070"/>
                    <a:pt x="0" y="226842"/>
                  </a:cubicBezTo>
                  <a:lnTo>
                    <a:pt x="0" y="42333"/>
                  </a:lnTo>
                  <a:cubicBezTo>
                    <a:pt x="0" y="31106"/>
                    <a:pt x="4460" y="20338"/>
                    <a:pt x="12399" y="12399"/>
                  </a:cubicBezTo>
                  <a:cubicBezTo>
                    <a:pt x="20338" y="4460"/>
                    <a:pt x="31106" y="0"/>
                    <a:pt x="42333" y="0"/>
                  </a:cubicBezTo>
                  <a:close/>
                </a:path>
              </a:pathLst>
            </a:custGeom>
            <a:solidFill>
              <a:srgbClr val="FDBB21"/>
            </a:solidFill>
          </p:spPr>
        </p:sp>
        <p:sp>
          <p:nvSpPr>
            <p:cNvPr name="TextBox 11" id="11"/>
            <p:cNvSpPr txBox="true"/>
            <p:nvPr/>
          </p:nvSpPr>
          <p:spPr>
            <a:xfrm>
              <a:off x="0" y="-57150"/>
              <a:ext cx="1926629" cy="326326"/>
            </a:xfrm>
            <a:prstGeom prst="rect">
              <a:avLst/>
            </a:prstGeom>
          </p:spPr>
          <p:txBody>
            <a:bodyPr anchor="ctr" rtlCol="false" tIns="50800" lIns="50800" bIns="50800" rIns="50800"/>
            <a:lstStyle/>
            <a:p>
              <a:pPr algn="ctr" marL="0" indent="0" lvl="0">
                <a:lnSpc>
                  <a:spcPts val="2871"/>
                </a:lnSpc>
              </a:pPr>
            </a:p>
          </p:txBody>
        </p:sp>
      </p:grpSp>
      <p:sp>
        <p:nvSpPr>
          <p:cNvPr name="Freeform 12" id="12"/>
          <p:cNvSpPr/>
          <p:nvPr/>
        </p:nvSpPr>
        <p:spPr>
          <a:xfrm flipH="false" flipV="false" rot="0">
            <a:off x="1187350" y="8354537"/>
            <a:ext cx="785499" cy="785499"/>
          </a:xfrm>
          <a:custGeom>
            <a:avLst/>
            <a:gdLst/>
            <a:ahLst/>
            <a:cxnLst/>
            <a:rect r="r" b="b" t="t" l="l"/>
            <a:pathLst>
              <a:path h="785499" w="785499">
                <a:moveTo>
                  <a:pt x="0" y="0"/>
                </a:moveTo>
                <a:lnTo>
                  <a:pt x="785498" y="0"/>
                </a:lnTo>
                <a:lnTo>
                  <a:pt x="785498" y="785499"/>
                </a:lnTo>
                <a:lnTo>
                  <a:pt x="0" y="7854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12401247" y="3378338"/>
            <a:ext cx="4117168" cy="411716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BB21"/>
            </a:solidFill>
          </p:spPr>
        </p:sp>
        <p:sp>
          <p:nvSpPr>
            <p:cNvPr name="TextBox 15" id="15"/>
            <p:cNvSpPr txBox="true"/>
            <p:nvPr/>
          </p:nvSpPr>
          <p:spPr>
            <a:xfrm>
              <a:off x="76200" y="19050"/>
              <a:ext cx="660400" cy="717550"/>
            </a:xfrm>
            <a:prstGeom prst="rect">
              <a:avLst/>
            </a:prstGeom>
          </p:spPr>
          <p:txBody>
            <a:bodyPr anchor="ctr" rtlCol="false" tIns="50800" lIns="50800" bIns="50800" rIns="50800"/>
            <a:lstStyle/>
            <a:p>
              <a:pPr algn="ctr" marL="0" indent="0" lvl="0">
                <a:lnSpc>
                  <a:spcPts val="2871"/>
                </a:lnSpc>
              </a:pPr>
            </a:p>
          </p:txBody>
        </p:sp>
      </p:grpSp>
      <p:sp>
        <p:nvSpPr>
          <p:cNvPr name="TextBox 16" id="16"/>
          <p:cNvSpPr txBox="true"/>
          <p:nvPr/>
        </p:nvSpPr>
        <p:spPr>
          <a:xfrm rot="0">
            <a:off x="4654435" y="1100872"/>
            <a:ext cx="1662550" cy="367032"/>
          </a:xfrm>
          <a:prstGeom prst="rect">
            <a:avLst/>
          </a:prstGeom>
        </p:spPr>
        <p:txBody>
          <a:bodyPr anchor="t" rtlCol="false" tIns="0" lIns="0" bIns="0" rIns="0">
            <a:spAutoFit/>
          </a:bodyPr>
          <a:lstStyle/>
          <a:p>
            <a:pPr algn="ctr" marL="0" indent="0" lvl="0">
              <a:lnSpc>
                <a:spcPts val="2869"/>
              </a:lnSpc>
              <a:spcBef>
                <a:spcPct val="0"/>
              </a:spcBef>
            </a:pPr>
            <a:r>
              <a:rPr lang="en-US" sz="2049" spc="4">
                <a:solidFill>
                  <a:srgbClr val="FFFFFF"/>
                </a:solidFill>
                <a:latin typeface="Poppins"/>
                <a:ea typeface="Poppins"/>
                <a:cs typeface="Poppins"/>
                <a:sym typeface="Poppins"/>
              </a:rPr>
              <a:t>Home</a:t>
            </a:r>
          </a:p>
        </p:txBody>
      </p:sp>
      <p:sp>
        <p:nvSpPr>
          <p:cNvPr name="TextBox 17" id="17"/>
          <p:cNvSpPr txBox="true"/>
          <p:nvPr/>
        </p:nvSpPr>
        <p:spPr>
          <a:xfrm rot="0">
            <a:off x="6918558" y="1103085"/>
            <a:ext cx="1907082" cy="367032"/>
          </a:xfrm>
          <a:prstGeom prst="rect">
            <a:avLst/>
          </a:prstGeom>
        </p:spPr>
        <p:txBody>
          <a:bodyPr anchor="t" rtlCol="false" tIns="0" lIns="0" bIns="0" rIns="0">
            <a:spAutoFit/>
          </a:bodyPr>
          <a:lstStyle/>
          <a:p>
            <a:pPr algn="ctr" marL="0" indent="0" lvl="0">
              <a:lnSpc>
                <a:spcPts val="2869"/>
              </a:lnSpc>
              <a:spcBef>
                <a:spcPct val="0"/>
              </a:spcBef>
            </a:pPr>
            <a:r>
              <a:rPr lang="en-US" sz="2049" spc="4">
                <a:solidFill>
                  <a:srgbClr val="FFFFFF"/>
                </a:solidFill>
                <a:latin typeface="Poppins"/>
                <a:ea typeface="Poppins"/>
                <a:cs typeface="Poppins"/>
                <a:sym typeface="Poppins"/>
              </a:rPr>
              <a:t>About</a:t>
            </a:r>
          </a:p>
        </p:txBody>
      </p:sp>
      <p:sp>
        <p:nvSpPr>
          <p:cNvPr name="TextBox 18" id="18"/>
          <p:cNvSpPr txBox="true"/>
          <p:nvPr/>
        </p:nvSpPr>
        <p:spPr>
          <a:xfrm rot="0">
            <a:off x="9626180" y="1103085"/>
            <a:ext cx="1589190" cy="367032"/>
          </a:xfrm>
          <a:prstGeom prst="rect">
            <a:avLst/>
          </a:prstGeom>
        </p:spPr>
        <p:txBody>
          <a:bodyPr anchor="t" rtlCol="false" tIns="0" lIns="0" bIns="0" rIns="0">
            <a:spAutoFit/>
          </a:bodyPr>
          <a:lstStyle/>
          <a:p>
            <a:pPr algn="ctr" marL="0" indent="0" lvl="0">
              <a:lnSpc>
                <a:spcPts val="2869"/>
              </a:lnSpc>
              <a:spcBef>
                <a:spcPct val="0"/>
              </a:spcBef>
            </a:pPr>
            <a:r>
              <a:rPr lang="en-US" b="true" sz="2049" spc="4">
                <a:solidFill>
                  <a:srgbClr val="FFFFFF"/>
                </a:solidFill>
                <a:latin typeface="Poppins Bold"/>
                <a:ea typeface="Poppins Bold"/>
                <a:cs typeface="Poppins Bold"/>
                <a:sym typeface="Poppins Bold"/>
              </a:rPr>
              <a:t>Content</a:t>
            </a:r>
          </a:p>
        </p:txBody>
      </p:sp>
      <p:sp>
        <p:nvSpPr>
          <p:cNvPr name="TextBox 19" id="19"/>
          <p:cNvSpPr txBox="true"/>
          <p:nvPr/>
        </p:nvSpPr>
        <p:spPr>
          <a:xfrm rot="0">
            <a:off x="11559765" y="1100872"/>
            <a:ext cx="2224975" cy="367032"/>
          </a:xfrm>
          <a:prstGeom prst="rect">
            <a:avLst/>
          </a:prstGeom>
        </p:spPr>
        <p:txBody>
          <a:bodyPr anchor="t" rtlCol="false" tIns="0" lIns="0" bIns="0" rIns="0">
            <a:spAutoFit/>
          </a:bodyPr>
          <a:lstStyle/>
          <a:p>
            <a:pPr algn="ctr" marL="0" indent="0" lvl="0">
              <a:lnSpc>
                <a:spcPts val="2869"/>
              </a:lnSpc>
              <a:spcBef>
                <a:spcPct val="0"/>
              </a:spcBef>
            </a:pPr>
            <a:r>
              <a:rPr lang="en-US" sz="2049" spc="4">
                <a:solidFill>
                  <a:srgbClr val="FFFFFF"/>
                </a:solidFill>
                <a:latin typeface="Poppins"/>
                <a:ea typeface="Poppins"/>
                <a:cs typeface="Poppins"/>
                <a:sym typeface="Poppins"/>
              </a:rPr>
              <a:t>Others</a:t>
            </a:r>
          </a:p>
        </p:txBody>
      </p:sp>
      <p:sp>
        <p:nvSpPr>
          <p:cNvPr name="TextBox 20" id="20"/>
          <p:cNvSpPr txBox="true"/>
          <p:nvPr/>
        </p:nvSpPr>
        <p:spPr>
          <a:xfrm rot="0">
            <a:off x="1028700" y="843346"/>
            <a:ext cx="1761862" cy="409445"/>
          </a:xfrm>
          <a:prstGeom prst="rect">
            <a:avLst/>
          </a:prstGeom>
        </p:spPr>
        <p:txBody>
          <a:bodyPr anchor="t" rtlCol="false" tIns="0" lIns="0" bIns="0" rIns="0">
            <a:spAutoFit/>
          </a:bodyPr>
          <a:lstStyle/>
          <a:p>
            <a:pPr algn="l" marL="0" indent="0" lvl="0">
              <a:lnSpc>
                <a:spcPts val="3157"/>
              </a:lnSpc>
              <a:spcBef>
                <a:spcPct val="0"/>
              </a:spcBef>
            </a:pPr>
            <a:r>
              <a:rPr lang="en-US" b="true" sz="2255" spc="4">
                <a:solidFill>
                  <a:srgbClr val="020F8D"/>
                </a:solidFill>
                <a:latin typeface="Poppins Heavy"/>
                <a:ea typeface="Poppins Heavy"/>
                <a:cs typeface="Poppins Heavy"/>
                <a:sym typeface="Poppins Heavy"/>
              </a:rPr>
              <a:t>Thynk</a:t>
            </a:r>
          </a:p>
        </p:txBody>
      </p:sp>
      <p:sp>
        <p:nvSpPr>
          <p:cNvPr name="TextBox 21" id="21"/>
          <p:cNvSpPr txBox="true"/>
          <p:nvPr/>
        </p:nvSpPr>
        <p:spPr>
          <a:xfrm rot="0">
            <a:off x="1028700" y="1164407"/>
            <a:ext cx="1761862" cy="409445"/>
          </a:xfrm>
          <a:prstGeom prst="rect">
            <a:avLst/>
          </a:prstGeom>
        </p:spPr>
        <p:txBody>
          <a:bodyPr anchor="t" rtlCol="false" tIns="0" lIns="0" bIns="0" rIns="0">
            <a:spAutoFit/>
          </a:bodyPr>
          <a:lstStyle/>
          <a:p>
            <a:pPr algn="l" marL="0" indent="0" lvl="0">
              <a:lnSpc>
                <a:spcPts val="3157"/>
              </a:lnSpc>
              <a:spcBef>
                <a:spcPct val="0"/>
              </a:spcBef>
            </a:pPr>
            <a:r>
              <a:rPr lang="en-US" sz="2255" spc="4">
                <a:solidFill>
                  <a:srgbClr val="020F8D"/>
                </a:solidFill>
                <a:latin typeface="Poppins"/>
                <a:ea typeface="Poppins"/>
                <a:cs typeface="Poppins"/>
                <a:sym typeface="Poppins"/>
              </a:rPr>
              <a:t>Unlimited.</a:t>
            </a:r>
          </a:p>
        </p:txBody>
      </p:sp>
      <p:sp>
        <p:nvSpPr>
          <p:cNvPr name="TextBox 22" id="22"/>
          <p:cNvSpPr txBox="true"/>
          <p:nvPr/>
        </p:nvSpPr>
        <p:spPr>
          <a:xfrm rot="0">
            <a:off x="1137920" y="2906660"/>
            <a:ext cx="6734179" cy="1497306"/>
          </a:xfrm>
          <a:prstGeom prst="rect">
            <a:avLst/>
          </a:prstGeom>
        </p:spPr>
        <p:txBody>
          <a:bodyPr anchor="t" rtlCol="false" tIns="0" lIns="0" bIns="0" rIns="0">
            <a:spAutoFit/>
          </a:bodyPr>
          <a:lstStyle/>
          <a:p>
            <a:pPr algn="just" marL="0" indent="0" lvl="0">
              <a:lnSpc>
                <a:spcPts val="5608"/>
              </a:lnSpc>
            </a:pPr>
            <a:r>
              <a:rPr lang="en-US" b="true" sz="5498" spc="-313">
                <a:solidFill>
                  <a:srgbClr val="020F8D"/>
                </a:solidFill>
                <a:latin typeface="Poppins Bold"/>
                <a:ea typeface="Poppins Bold"/>
                <a:cs typeface="Poppins Bold"/>
                <a:sym typeface="Poppins Bold"/>
              </a:rPr>
              <a:t>Impact on Customer Satisfaction</a:t>
            </a:r>
          </a:p>
        </p:txBody>
      </p:sp>
      <p:sp>
        <p:nvSpPr>
          <p:cNvPr name="TextBox 23" id="23"/>
          <p:cNvSpPr txBox="true"/>
          <p:nvPr/>
        </p:nvSpPr>
        <p:spPr>
          <a:xfrm rot="0">
            <a:off x="1137920" y="5306915"/>
            <a:ext cx="6359269" cy="1961161"/>
          </a:xfrm>
          <a:prstGeom prst="rect">
            <a:avLst/>
          </a:prstGeom>
        </p:spPr>
        <p:txBody>
          <a:bodyPr anchor="t" rtlCol="false" tIns="0" lIns="0" bIns="0" rIns="0">
            <a:spAutoFit/>
          </a:bodyPr>
          <a:lstStyle/>
          <a:p>
            <a:pPr algn="just" marL="0" indent="0" lvl="0">
              <a:lnSpc>
                <a:spcPts val="2566"/>
              </a:lnSpc>
            </a:pPr>
            <a:r>
              <a:rPr lang="en-US" sz="2069" spc="-91">
                <a:solidFill>
                  <a:srgbClr val="020F8D"/>
                </a:solidFill>
                <a:latin typeface="Poppins"/>
                <a:ea typeface="Poppins"/>
                <a:cs typeface="Poppins"/>
                <a:sym typeface="Poppins"/>
              </a:rPr>
              <a:t>75% of customers are less likely to reorder after a delayed delivery. Delays erode trust, trigger negative reviews, and directly result in lost sales. Repeated delivery failures damage brand reputation and reduce long-term customer loyalty, making timely delivery a critical factor in business success.</a:t>
            </a:r>
          </a:p>
        </p:txBody>
      </p:sp>
      <p:sp>
        <p:nvSpPr>
          <p:cNvPr name="TextBox 24" id="24"/>
          <p:cNvSpPr txBox="true"/>
          <p:nvPr/>
        </p:nvSpPr>
        <p:spPr>
          <a:xfrm rot="0">
            <a:off x="2230023" y="8506956"/>
            <a:ext cx="5795594" cy="398886"/>
          </a:xfrm>
          <a:prstGeom prst="rect">
            <a:avLst/>
          </a:prstGeom>
        </p:spPr>
        <p:txBody>
          <a:bodyPr anchor="t" rtlCol="false" tIns="0" lIns="0" bIns="0" rIns="0">
            <a:spAutoFit/>
          </a:bodyPr>
          <a:lstStyle/>
          <a:p>
            <a:pPr algn="ctr" marL="0" indent="0" lvl="0">
              <a:lnSpc>
                <a:spcPts val="3214"/>
              </a:lnSpc>
              <a:spcBef>
                <a:spcPct val="0"/>
              </a:spcBef>
            </a:pPr>
            <a:r>
              <a:rPr lang="en-US" sz="2295" spc="4">
                <a:solidFill>
                  <a:srgbClr val="FFFFFF"/>
                </a:solidFill>
                <a:latin typeface="Poppins"/>
                <a:ea typeface="Poppins"/>
                <a:cs typeface="Poppins"/>
                <a:sym typeface="Poppins"/>
              </a:rPr>
              <a:t>Next Slide | Delivery Delays Presentation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44174" y="615425"/>
            <a:ext cx="9540566" cy="1370396"/>
            <a:chOff x="0" y="0"/>
            <a:chExt cx="2512742" cy="360927"/>
          </a:xfrm>
        </p:grpSpPr>
        <p:sp>
          <p:nvSpPr>
            <p:cNvPr name="Freeform 3" id="3"/>
            <p:cNvSpPr/>
            <p:nvPr/>
          </p:nvSpPr>
          <p:spPr>
            <a:xfrm flipH="false" flipV="false" rot="0">
              <a:off x="0" y="0"/>
              <a:ext cx="2512742" cy="360927"/>
            </a:xfrm>
            <a:custGeom>
              <a:avLst/>
              <a:gdLst/>
              <a:ahLst/>
              <a:cxnLst/>
              <a:rect r="r" b="b" t="t" l="l"/>
              <a:pathLst>
                <a:path h="360927" w="2512742">
                  <a:moveTo>
                    <a:pt x="32459" y="0"/>
                  </a:moveTo>
                  <a:lnTo>
                    <a:pt x="2480283" y="0"/>
                  </a:lnTo>
                  <a:cubicBezTo>
                    <a:pt x="2488891" y="0"/>
                    <a:pt x="2497148" y="3420"/>
                    <a:pt x="2503235" y="9507"/>
                  </a:cubicBezTo>
                  <a:cubicBezTo>
                    <a:pt x="2509322" y="15594"/>
                    <a:pt x="2512742" y="23850"/>
                    <a:pt x="2512742" y="32459"/>
                  </a:cubicBezTo>
                  <a:lnTo>
                    <a:pt x="2512742" y="328468"/>
                  </a:lnTo>
                  <a:cubicBezTo>
                    <a:pt x="2512742" y="337077"/>
                    <a:pt x="2509322" y="345333"/>
                    <a:pt x="2503235" y="351420"/>
                  </a:cubicBezTo>
                  <a:cubicBezTo>
                    <a:pt x="2497148" y="357507"/>
                    <a:pt x="2488891" y="360927"/>
                    <a:pt x="2480283" y="360927"/>
                  </a:cubicBezTo>
                  <a:lnTo>
                    <a:pt x="32459" y="360927"/>
                  </a:lnTo>
                  <a:cubicBezTo>
                    <a:pt x="23850" y="360927"/>
                    <a:pt x="15594" y="357507"/>
                    <a:pt x="9507" y="351420"/>
                  </a:cubicBezTo>
                  <a:cubicBezTo>
                    <a:pt x="3420" y="345333"/>
                    <a:pt x="0" y="337077"/>
                    <a:pt x="0" y="328468"/>
                  </a:cubicBezTo>
                  <a:lnTo>
                    <a:pt x="0" y="32459"/>
                  </a:lnTo>
                  <a:cubicBezTo>
                    <a:pt x="0" y="23850"/>
                    <a:pt x="3420" y="15594"/>
                    <a:pt x="9507" y="9507"/>
                  </a:cubicBezTo>
                  <a:cubicBezTo>
                    <a:pt x="15594" y="3420"/>
                    <a:pt x="23850" y="0"/>
                    <a:pt x="32459" y="0"/>
                  </a:cubicBezTo>
                  <a:close/>
                </a:path>
              </a:pathLst>
            </a:custGeom>
            <a:solidFill>
              <a:srgbClr val="EF5026"/>
            </a:solidFill>
          </p:spPr>
        </p:sp>
        <p:sp>
          <p:nvSpPr>
            <p:cNvPr name="TextBox 4" id="4"/>
            <p:cNvSpPr txBox="true"/>
            <p:nvPr/>
          </p:nvSpPr>
          <p:spPr>
            <a:xfrm>
              <a:off x="0" y="-57150"/>
              <a:ext cx="2512742" cy="418077"/>
            </a:xfrm>
            <a:prstGeom prst="rect">
              <a:avLst/>
            </a:prstGeom>
          </p:spPr>
          <p:txBody>
            <a:bodyPr anchor="ctr" rtlCol="false" tIns="50800" lIns="50800" bIns="50800" rIns="50800"/>
            <a:lstStyle/>
            <a:p>
              <a:pPr algn="ctr" marL="0" indent="0" lvl="0">
                <a:lnSpc>
                  <a:spcPts val="2871"/>
                </a:lnSpc>
              </a:pPr>
            </a:p>
          </p:txBody>
        </p:sp>
      </p:grpSp>
      <p:sp>
        <p:nvSpPr>
          <p:cNvPr name="Freeform 5" id="5"/>
          <p:cNvSpPr/>
          <p:nvPr/>
        </p:nvSpPr>
        <p:spPr>
          <a:xfrm flipH="false" flipV="false" rot="0">
            <a:off x="16518415" y="979562"/>
            <a:ext cx="750613" cy="626015"/>
          </a:xfrm>
          <a:custGeom>
            <a:avLst/>
            <a:gdLst/>
            <a:ahLst/>
            <a:cxnLst/>
            <a:rect r="r" b="b" t="t" l="l"/>
            <a:pathLst>
              <a:path h="626015" w="750613">
                <a:moveTo>
                  <a:pt x="0" y="0"/>
                </a:moveTo>
                <a:lnTo>
                  <a:pt x="750613" y="0"/>
                </a:lnTo>
                <a:lnTo>
                  <a:pt x="750613" y="626015"/>
                </a:lnTo>
                <a:lnTo>
                  <a:pt x="0" y="626015"/>
                </a:lnTo>
                <a:lnTo>
                  <a:pt x="0" y="0"/>
                </a:lnTo>
                <a:close/>
              </a:path>
            </a:pathLst>
          </a:custGeom>
          <a:blipFill>
            <a:blip r:embed="rId2">
              <a:extLst>
                <a:ext uri="{96DAC541-7B7A-43D3-8B79-37D633B846F1}">
                  <asvg:svgBlip xmlns:asvg="http://schemas.microsoft.com/office/drawing/2016/SVG/main" r:embed="rId3"/>
                </a:ext>
              </a:extLst>
            </a:blip>
            <a:stretch>
              <a:fillRect l="-285065" t="0" r="0" b="-72930"/>
            </a:stretch>
          </a:blipFill>
        </p:spPr>
      </p:sp>
      <p:grpSp>
        <p:nvGrpSpPr>
          <p:cNvPr name="Group 6" id="6"/>
          <p:cNvGrpSpPr/>
          <p:nvPr/>
        </p:nvGrpSpPr>
        <p:grpSpPr>
          <a:xfrm rot="0">
            <a:off x="6567862" y="5652706"/>
            <a:ext cx="5162005" cy="5854588"/>
            <a:chOff x="0" y="0"/>
            <a:chExt cx="1359540" cy="1541949"/>
          </a:xfrm>
        </p:grpSpPr>
        <p:sp>
          <p:nvSpPr>
            <p:cNvPr name="Freeform 7" id="7"/>
            <p:cNvSpPr/>
            <p:nvPr/>
          </p:nvSpPr>
          <p:spPr>
            <a:xfrm flipH="false" flipV="false" rot="0">
              <a:off x="0" y="0"/>
              <a:ext cx="1359540" cy="1541949"/>
            </a:xfrm>
            <a:custGeom>
              <a:avLst/>
              <a:gdLst/>
              <a:ahLst/>
              <a:cxnLst/>
              <a:rect r="r" b="b" t="t" l="l"/>
              <a:pathLst>
                <a:path h="1541949" w="1359540">
                  <a:moveTo>
                    <a:pt x="59992" y="0"/>
                  </a:moveTo>
                  <a:lnTo>
                    <a:pt x="1299549" y="0"/>
                  </a:lnTo>
                  <a:cubicBezTo>
                    <a:pt x="1332681" y="0"/>
                    <a:pt x="1359540" y="26859"/>
                    <a:pt x="1359540" y="59992"/>
                  </a:cubicBezTo>
                  <a:lnTo>
                    <a:pt x="1359540" y="1481958"/>
                  </a:lnTo>
                  <a:cubicBezTo>
                    <a:pt x="1359540" y="1515090"/>
                    <a:pt x="1332681" y="1541949"/>
                    <a:pt x="1299549" y="1541949"/>
                  </a:cubicBezTo>
                  <a:lnTo>
                    <a:pt x="59992" y="1541949"/>
                  </a:lnTo>
                  <a:cubicBezTo>
                    <a:pt x="26859" y="1541949"/>
                    <a:pt x="0" y="1515090"/>
                    <a:pt x="0" y="1481958"/>
                  </a:cubicBezTo>
                  <a:lnTo>
                    <a:pt x="0" y="59992"/>
                  </a:lnTo>
                  <a:cubicBezTo>
                    <a:pt x="0" y="26859"/>
                    <a:pt x="26859" y="0"/>
                    <a:pt x="59992" y="0"/>
                  </a:cubicBezTo>
                  <a:close/>
                </a:path>
              </a:pathLst>
            </a:custGeom>
            <a:solidFill>
              <a:srgbClr val="020F8D"/>
            </a:solidFill>
          </p:spPr>
        </p:sp>
        <p:sp>
          <p:nvSpPr>
            <p:cNvPr name="TextBox 8" id="8"/>
            <p:cNvSpPr txBox="true"/>
            <p:nvPr/>
          </p:nvSpPr>
          <p:spPr>
            <a:xfrm>
              <a:off x="0" y="-57150"/>
              <a:ext cx="1359540" cy="1599099"/>
            </a:xfrm>
            <a:prstGeom prst="rect">
              <a:avLst/>
            </a:prstGeom>
          </p:spPr>
          <p:txBody>
            <a:bodyPr anchor="ctr" rtlCol="false" tIns="50800" lIns="50800" bIns="50800" rIns="50800"/>
            <a:lstStyle/>
            <a:p>
              <a:pPr algn="ctr" marL="0" indent="0" lvl="0">
                <a:lnSpc>
                  <a:spcPts val="2871"/>
                </a:lnSpc>
              </a:pPr>
            </a:p>
          </p:txBody>
        </p:sp>
      </p:grpSp>
      <p:grpSp>
        <p:nvGrpSpPr>
          <p:cNvPr name="Group 9" id="9"/>
          <p:cNvGrpSpPr/>
          <p:nvPr/>
        </p:nvGrpSpPr>
        <p:grpSpPr>
          <a:xfrm rot="0">
            <a:off x="12320214" y="6264116"/>
            <a:ext cx="4948814" cy="4479369"/>
            <a:chOff x="0" y="0"/>
            <a:chExt cx="1303391" cy="1179752"/>
          </a:xfrm>
        </p:grpSpPr>
        <p:sp>
          <p:nvSpPr>
            <p:cNvPr name="Freeform 10" id="10"/>
            <p:cNvSpPr/>
            <p:nvPr/>
          </p:nvSpPr>
          <p:spPr>
            <a:xfrm flipH="false" flipV="false" rot="0">
              <a:off x="0" y="0"/>
              <a:ext cx="1303391" cy="1179752"/>
            </a:xfrm>
            <a:custGeom>
              <a:avLst/>
              <a:gdLst/>
              <a:ahLst/>
              <a:cxnLst/>
              <a:rect r="r" b="b" t="t" l="l"/>
              <a:pathLst>
                <a:path h="1179752" w="1303391">
                  <a:moveTo>
                    <a:pt x="62576" y="0"/>
                  </a:moveTo>
                  <a:lnTo>
                    <a:pt x="1240815" y="0"/>
                  </a:lnTo>
                  <a:cubicBezTo>
                    <a:pt x="1275375" y="0"/>
                    <a:pt x="1303391" y="28016"/>
                    <a:pt x="1303391" y="62576"/>
                  </a:cubicBezTo>
                  <a:lnTo>
                    <a:pt x="1303391" y="1117176"/>
                  </a:lnTo>
                  <a:cubicBezTo>
                    <a:pt x="1303391" y="1151735"/>
                    <a:pt x="1275375" y="1179752"/>
                    <a:pt x="1240815" y="1179752"/>
                  </a:cubicBezTo>
                  <a:lnTo>
                    <a:pt x="62576" y="1179752"/>
                  </a:lnTo>
                  <a:cubicBezTo>
                    <a:pt x="28016" y="1179752"/>
                    <a:pt x="0" y="1151735"/>
                    <a:pt x="0" y="1117176"/>
                  </a:cubicBezTo>
                  <a:lnTo>
                    <a:pt x="0" y="62576"/>
                  </a:lnTo>
                  <a:cubicBezTo>
                    <a:pt x="0" y="28016"/>
                    <a:pt x="28016" y="0"/>
                    <a:pt x="62576" y="0"/>
                  </a:cubicBezTo>
                  <a:close/>
                </a:path>
              </a:pathLst>
            </a:custGeom>
            <a:solidFill>
              <a:srgbClr val="020F8D"/>
            </a:solidFill>
          </p:spPr>
        </p:sp>
        <p:sp>
          <p:nvSpPr>
            <p:cNvPr name="TextBox 11" id="11"/>
            <p:cNvSpPr txBox="true"/>
            <p:nvPr/>
          </p:nvSpPr>
          <p:spPr>
            <a:xfrm>
              <a:off x="0" y="-57150"/>
              <a:ext cx="1303391" cy="1236902"/>
            </a:xfrm>
            <a:prstGeom prst="rect">
              <a:avLst/>
            </a:prstGeom>
          </p:spPr>
          <p:txBody>
            <a:bodyPr anchor="ctr" rtlCol="false" tIns="50800" lIns="50800" bIns="50800" rIns="50800"/>
            <a:lstStyle/>
            <a:p>
              <a:pPr algn="ctr" marL="0" indent="0" lvl="0">
                <a:lnSpc>
                  <a:spcPts val="2871"/>
                </a:lnSpc>
              </a:pPr>
            </a:p>
          </p:txBody>
        </p:sp>
      </p:grpSp>
      <p:grpSp>
        <p:nvGrpSpPr>
          <p:cNvPr name="Group 12" id="12"/>
          <p:cNvGrpSpPr/>
          <p:nvPr/>
        </p:nvGrpSpPr>
        <p:grpSpPr>
          <a:xfrm rot="0">
            <a:off x="1028700" y="6264116"/>
            <a:ext cx="4948814" cy="4479369"/>
            <a:chOff x="0" y="0"/>
            <a:chExt cx="1303391" cy="1179752"/>
          </a:xfrm>
        </p:grpSpPr>
        <p:sp>
          <p:nvSpPr>
            <p:cNvPr name="Freeform 13" id="13"/>
            <p:cNvSpPr/>
            <p:nvPr/>
          </p:nvSpPr>
          <p:spPr>
            <a:xfrm flipH="false" flipV="false" rot="0">
              <a:off x="0" y="0"/>
              <a:ext cx="1303391" cy="1179752"/>
            </a:xfrm>
            <a:custGeom>
              <a:avLst/>
              <a:gdLst/>
              <a:ahLst/>
              <a:cxnLst/>
              <a:rect r="r" b="b" t="t" l="l"/>
              <a:pathLst>
                <a:path h="1179752" w="1303391">
                  <a:moveTo>
                    <a:pt x="62576" y="0"/>
                  </a:moveTo>
                  <a:lnTo>
                    <a:pt x="1240815" y="0"/>
                  </a:lnTo>
                  <a:cubicBezTo>
                    <a:pt x="1275375" y="0"/>
                    <a:pt x="1303391" y="28016"/>
                    <a:pt x="1303391" y="62576"/>
                  </a:cubicBezTo>
                  <a:lnTo>
                    <a:pt x="1303391" y="1117176"/>
                  </a:lnTo>
                  <a:cubicBezTo>
                    <a:pt x="1303391" y="1151735"/>
                    <a:pt x="1275375" y="1179752"/>
                    <a:pt x="1240815" y="1179752"/>
                  </a:cubicBezTo>
                  <a:lnTo>
                    <a:pt x="62576" y="1179752"/>
                  </a:lnTo>
                  <a:cubicBezTo>
                    <a:pt x="28016" y="1179752"/>
                    <a:pt x="0" y="1151735"/>
                    <a:pt x="0" y="1117176"/>
                  </a:cubicBezTo>
                  <a:lnTo>
                    <a:pt x="0" y="62576"/>
                  </a:lnTo>
                  <a:cubicBezTo>
                    <a:pt x="0" y="28016"/>
                    <a:pt x="28016" y="0"/>
                    <a:pt x="62576" y="0"/>
                  </a:cubicBezTo>
                  <a:close/>
                </a:path>
              </a:pathLst>
            </a:custGeom>
            <a:solidFill>
              <a:srgbClr val="020F8D"/>
            </a:solidFill>
          </p:spPr>
        </p:sp>
        <p:sp>
          <p:nvSpPr>
            <p:cNvPr name="TextBox 14" id="14"/>
            <p:cNvSpPr txBox="true"/>
            <p:nvPr/>
          </p:nvSpPr>
          <p:spPr>
            <a:xfrm>
              <a:off x="0" y="-57150"/>
              <a:ext cx="1303391" cy="1236902"/>
            </a:xfrm>
            <a:prstGeom prst="rect">
              <a:avLst/>
            </a:prstGeom>
          </p:spPr>
          <p:txBody>
            <a:bodyPr anchor="ctr" rtlCol="false" tIns="50800" lIns="50800" bIns="50800" rIns="50800"/>
            <a:lstStyle/>
            <a:p>
              <a:pPr algn="ctr" marL="0" indent="0" lvl="0">
                <a:lnSpc>
                  <a:spcPts val="2871"/>
                </a:lnSpc>
              </a:pPr>
            </a:p>
          </p:txBody>
        </p:sp>
      </p:grpSp>
      <p:sp>
        <p:nvSpPr>
          <p:cNvPr name="TextBox 15" id="15"/>
          <p:cNvSpPr txBox="true"/>
          <p:nvPr/>
        </p:nvSpPr>
        <p:spPr>
          <a:xfrm rot="0">
            <a:off x="4654435" y="1119922"/>
            <a:ext cx="1662550" cy="282419"/>
          </a:xfrm>
          <a:prstGeom prst="rect">
            <a:avLst/>
          </a:prstGeom>
        </p:spPr>
        <p:txBody>
          <a:bodyPr anchor="t" rtlCol="false" tIns="0" lIns="0" bIns="0" rIns="0">
            <a:spAutoFit/>
          </a:bodyPr>
          <a:lstStyle/>
          <a:p>
            <a:pPr algn="ctr" marL="0" indent="0" lvl="0">
              <a:lnSpc>
                <a:spcPts val="2283"/>
              </a:lnSpc>
              <a:spcBef>
                <a:spcPct val="0"/>
              </a:spcBef>
            </a:pPr>
            <a:r>
              <a:rPr lang="en-US" sz="1631" spc="3">
                <a:solidFill>
                  <a:srgbClr val="FFFFFF"/>
                </a:solidFill>
                <a:latin typeface="Poppins"/>
                <a:ea typeface="Poppins"/>
                <a:cs typeface="Poppins"/>
                <a:sym typeface="Poppins"/>
              </a:rPr>
              <a:t>Home</a:t>
            </a:r>
          </a:p>
        </p:txBody>
      </p:sp>
      <p:sp>
        <p:nvSpPr>
          <p:cNvPr name="TextBox 16" id="16"/>
          <p:cNvSpPr txBox="true"/>
          <p:nvPr/>
        </p:nvSpPr>
        <p:spPr>
          <a:xfrm rot="0">
            <a:off x="6918558" y="1122135"/>
            <a:ext cx="1907082" cy="282419"/>
          </a:xfrm>
          <a:prstGeom prst="rect">
            <a:avLst/>
          </a:prstGeom>
        </p:spPr>
        <p:txBody>
          <a:bodyPr anchor="t" rtlCol="false" tIns="0" lIns="0" bIns="0" rIns="0">
            <a:spAutoFit/>
          </a:bodyPr>
          <a:lstStyle/>
          <a:p>
            <a:pPr algn="ctr" marL="0" indent="0" lvl="0">
              <a:lnSpc>
                <a:spcPts val="2283"/>
              </a:lnSpc>
              <a:spcBef>
                <a:spcPct val="0"/>
              </a:spcBef>
            </a:pPr>
            <a:r>
              <a:rPr lang="en-US" sz="1631" spc="3">
                <a:solidFill>
                  <a:srgbClr val="FFFFFF"/>
                </a:solidFill>
                <a:latin typeface="Poppins"/>
                <a:ea typeface="Poppins"/>
                <a:cs typeface="Poppins"/>
                <a:sym typeface="Poppins"/>
              </a:rPr>
              <a:t>About</a:t>
            </a:r>
          </a:p>
        </p:txBody>
      </p:sp>
      <p:sp>
        <p:nvSpPr>
          <p:cNvPr name="TextBox 17" id="17"/>
          <p:cNvSpPr txBox="true"/>
          <p:nvPr/>
        </p:nvSpPr>
        <p:spPr>
          <a:xfrm rot="0">
            <a:off x="9626180" y="1122135"/>
            <a:ext cx="1589190" cy="282419"/>
          </a:xfrm>
          <a:prstGeom prst="rect">
            <a:avLst/>
          </a:prstGeom>
        </p:spPr>
        <p:txBody>
          <a:bodyPr anchor="t" rtlCol="false" tIns="0" lIns="0" bIns="0" rIns="0">
            <a:spAutoFit/>
          </a:bodyPr>
          <a:lstStyle/>
          <a:p>
            <a:pPr algn="ctr" marL="0" indent="0" lvl="0">
              <a:lnSpc>
                <a:spcPts val="2283"/>
              </a:lnSpc>
              <a:spcBef>
                <a:spcPct val="0"/>
              </a:spcBef>
            </a:pPr>
            <a:r>
              <a:rPr lang="en-US" b="true" sz="1631" spc="3">
                <a:solidFill>
                  <a:srgbClr val="FFFFFF"/>
                </a:solidFill>
                <a:latin typeface="Poppins Bold"/>
                <a:ea typeface="Poppins Bold"/>
                <a:cs typeface="Poppins Bold"/>
                <a:sym typeface="Poppins Bold"/>
              </a:rPr>
              <a:t>Content</a:t>
            </a:r>
          </a:p>
        </p:txBody>
      </p:sp>
      <p:sp>
        <p:nvSpPr>
          <p:cNvPr name="TextBox 18" id="18"/>
          <p:cNvSpPr txBox="true"/>
          <p:nvPr/>
        </p:nvSpPr>
        <p:spPr>
          <a:xfrm rot="0">
            <a:off x="11559765" y="1119922"/>
            <a:ext cx="2224975" cy="282419"/>
          </a:xfrm>
          <a:prstGeom prst="rect">
            <a:avLst/>
          </a:prstGeom>
        </p:spPr>
        <p:txBody>
          <a:bodyPr anchor="t" rtlCol="false" tIns="0" lIns="0" bIns="0" rIns="0">
            <a:spAutoFit/>
          </a:bodyPr>
          <a:lstStyle/>
          <a:p>
            <a:pPr algn="ctr" marL="0" indent="0" lvl="0">
              <a:lnSpc>
                <a:spcPts val="2283"/>
              </a:lnSpc>
              <a:spcBef>
                <a:spcPct val="0"/>
              </a:spcBef>
            </a:pPr>
            <a:r>
              <a:rPr lang="en-US" sz="1631" spc="3">
                <a:solidFill>
                  <a:srgbClr val="FFFFFF"/>
                </a:solidFill>
                <a:latin typeface="Poppins"/>
                <a:ea typeface="Poppins"/>
                <a:cs typeface="Poppins"/>
                <a:sym typeface="Poppins"/>
              </a:rPr>
              <a:t>Others</a:t>
            </a:r>
          </a:p>
        </p:txBody>
      </p:sp>
      <p:sp>
        <p:nvSpPr>
          <p:cNvPr name="TextBox 19" id="19"/>
          <p:cNvSpPr txBox="true"/>
          <p:nvPr/>
        </p:nvSpPr>
        <p:spPr>
          <a:xfrm rot="0">
            <a:off x="1028700" y="852871"/>
            <a:ext cx="1761862" cy="358959"/>
          </a:xfrm>
          <a:prstGeom prst="rect">
            <a:avLst/>
          </a:prstGeom>
        </p:spPr>
        <p:txBody>
          <a:bodyPr anchor="t" rtlCol="false" tIns="0" lIns="0" bIns="0" rIns="0">
            <a:spAutoFit/>
          </a:bodyPr>
          <a:lstStyle/>
          <a:p>
            <a:pPr algn="l" marL="0" indent="0" lvl="0">
              <a:lnSpc>
                <a:spcPts val="2789"/>
              </a:lnSpc>
              <a:spcBef>
                <a:spcPct val="0"/>
              </a:spcBef>
            </a:pPr>
            <a:r>
              <a:rPr lang="en-US" b="true" sz="1992" spc="3">
                <a:solidFill>
                  <a:srgbClr val="020F8D"/>
                </a:solidFill>
                <a:latin typeface="Poppins Heavy"/>
                <a:ea typeface="Poppins Heavy"/>
                <a:cs typeface="Poppins Heavy"/>
                <a:sym typeface="Poppins Heavy"/>
              </a:rPr>
              <a:t>Thynk</a:t>
            </a:r>
          </a:p>
        </p:txBody>
      </p:sp>
      <p:sp>
        <p:nvSpPr>
          <p:cNvPr name="TextBox 20" id="20"/>
          <p:cNvSpPr txBox="true"/>
          <p:nvPr/>
        </p:nvSpPr>
        <p:spPr>
          <a:xfrm rot="0">
            <a:off x="1028700" y="1173932"/>
            <a:ext cx="1761862" cy="358959"/>
          </a:xfrm>
          <a:prstGeom prst="rect">
            <a:avLst/>
          </a:prstGeom>
        </p:spPr>
        <p:txBody>
          <a:bodyPr anchor="t" rtlCol="false" tIns="0" lIns="0" bIns="0" rIns="0">
            <a:spAutoFit/>
          </a:bodyPr>
          <a:lstStyle/>
          <a:p>
            <a:pPr algn="l" marL="0" indent="0" lvl="0">
              <a:lnSpc>
                <a:spcPts val="2789"/>
              </a:lnSpc>
              <a:spcBef>
                <a:spcPct val="0"/>
              </a:spcBef>
            </a:pPr>
            <a:r>
              <a:rPr lang="en-US" sz="1992" spc="3">
                <a:solidFill>
                  <a:srgbClr val="020F8D"/>
                </a:solidFill>
                <a:latin typeface="Poppins"/>
                <a:ea typeface="Poppins"/>
                <a:cs typeface="Poppins"/>
                <a:sym typeface="Poppins"/>
              </a:rPr>
              <a:t>Unlimited.</a:t>
            </a:r>
          </a:p>
        </p:txBody>
      </p:sp>
      <p:sp>
        <p:nvSpPr>
          <p:cNvPr name="TextBox 21" id="21"/>
          <p:cNvSpPr txBox="true"/>
          <p:nvPr/>
        </p:nvSpPr>
        <p:spPr>
          <a:xfrm rot="0">
            <a:off x="4167304" y="2829649"/>
            <a:ext cx="9953392" cy="669150"/>
          </a:xfrm>
          <a:prstGeom prst="rect">
            <a:avLst/>
          </a:prstGeom>
        </p:spPr>
        <p:txBody>
          <a:bodyPr anchor="t" rtlCol="false" tIns="0" lIns="0" bIns="0" rIns="0">
            <a:spAutoFit/>
          </a:bodyPr>
          <a:lstStyle/>
          <a:p>
            <a:pPr algn="ctr" marL="0" indent="0" lvl="0">
              <a:lnSpc>
                <a:spcPts val="4782"/>
              </a:lnSpc>
            </a:pPr>
            <a:r>
              <a:rPr lang="en-US" b="true" sz="4688" spc="-267">
                <a:solidFill>
                  <a:srgbClr val="020F8D"/>
                </a:solidFill>
                <a:latin typeface="Poppins Bold"/>
                <a:ea typeface="Poppins Bold"/>
                <a:cs typeface="Poppins Bold"/>
                <a:sym typeface="Poppins Bold"/>
              </a:rPr>
              <a:t>Summary &amp; Business Implications</a:t>
            </a:r>
          </a:p>
        </p:txBody>
      </p:sp>
      <p:sp>
        <p:nvSpPr>
          <p:cNvPr name="TextBox 22" id="22"/>
          <p:cNvSpPr txBox="true"/>
          <p:nvPr/>
        </p:nvSpPr>
        <p:spPr>
          <a:xfrm rot="0">
            <a:off x="2966265" y="3964559"/>
            <a:ext cx="12365198" cy="867009"/>
          </a:xfrm>
          <a:prstGeom prst="rect">
            <a:avLst/>
          </a:prstGeom>
        </p:spPr>
        <p:txBody>
          <a:bodyPr anchor="t" rtlCol="false" tIns="0" lIns="0" bIns="0" rIns="0">
            <a:spAutoFit/>
          </a:bodyPr>
          <a:lstStyle/>
          <a:p>
            <a:pPr algn="ctr" marL="0" indent="0" lvl="0">
              <a:lnSpc>
                <a:spcPts val="2267"/>
              </a:lnSpc>
            </a:pPr>
            <a:r>
              <a:rPr lang="en-US" sz="1828" spc="-80">
                <a:solidFill>
                  <a:srgbClr val="020F8D"/>
                </a:solidFill>
                <a:latin typeface="Poppins"/>
                <a:ea typeface="Poppins"/>
                <a:cs typeface="Poppins"/>
                <a:sym typeface="Poppins"/>
              </a:rPr>
              <a:t>Address internal inefficiencies through process improvements and technology upgrades. Build resilient supply chains to mitigate external risks and disruptions. Communicate proactively with customers to manage expectations and maintain trust. Prioritize customer experience to sustain satisfaction despite operational challenges.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44174" y="615425"/>
            <a:ext cx="9540566" cy="1370396"/>
            <a:chOff x="0" y="0"/>
            <a:chExt cx="2512742" cy="360927"/>
          </a:xfrm>
        </p:grpSpPr>
        <p:sp>
          <p:nvSpPr>
            <p:cNvPr name="Freeform 3" id="3"/>
            <p:cNvSpPr/>
            <p:nvPr/>
          </p:nvSpPr>
          <p:spPr>
            <a:xfrm flipH="false" flipV="false" rot="0">
              <a:off x="0" y="0"/>
              <a:ext cx="2512742" cy="360927"/>
            </a:xfrm>
            <a:custGeom>
              <a:avLst/>
              <a:gdLst/>
              <a:ahLst/>
              <a:cxnLst/>
              <a:rect r="r" b="b" t="t" l="l"/>
              <a:pathLst>
                <a:path h="360927" w="2512742">
                  <a:moveTo>
                    <a:pt x="32459" y="0"/>
                  </a:moveTo>
                  <a:lnTo>
                    <a:pt x="2480283" y="0"/>
                  </a:lnTo>
                  <a:cubicBezTo>
                    <a:pt x="2488891" y="0"/>
                    <a:pt x="2497148" y="3420"/>
                    <a:pt x="2503235" y="9507"/>
                  </a:cubicBezTo>
                  <a:cubicBezTo>
                    <a:pt x="2509322" y="15594"/>
                    <a:pt x="2512742" y="23850"/>
                    <a:pt x="2512742" y="32459"/>
                  </a:cubicBezTo>
                  <a:lnTo>
                    <a:pt x="2512742" y="328468"/>
                  </a:lnTo>
                  <a:cubicBezTo>
                    <a:pt x="2512742" y="337077"/>
                    <a:pt x="2509322" y="345333"/>
                    <a:pt x="2503235" y="351420"/>
                  </a:cubicBezTo>
                  <a:cubicBezTo>
                    <a:pt x="2497148" y="357507"/>
                    <a:pt x="2488891" y="360927"/>
                    <a:pt x="2480283" y="360927"/>
                  </a:cubicBezTo>
                  <a:lnTo>
                    <a:pt x="32459" y="360927"/>
                  </a:lnTo>
                  <a:cubicBezTo>
                    <a:pt x="23850" y="360927"/>
                    <a:pt x="15594" y="357507"/>
                    <a:pt x="9507" y="351420"/>
                  </a:cubicBezTo>
                  <a:cubicBezTo>
                    <a:pt x="3420" y="345333"/>
                    <a:pt x="0" y="337077"/>
                    <a:pt x="0" y="328468"/>
                  </a:cubicBezTo>
                  <a:lnTo>
                    <a:pt x="0" y="32459"/>
                  </a:lnTo>
                  <a:cubicBezTo>
                    <a:pt x="0" y="23850"/>
                    <a:pt x="3420" y="15594"/>
                    <a:pt x="9507" y="9507"/>
                  </a:cubicBezTo>
                  <a:cubicBezTo>
                    <a:pt x="15594" y="3420"/>
                    <a:pt x="23850" y="0"/>
                    <a:pt x="32459" y="0"/>
                  </a:cubicBezTo>
                  <a:close/>
                </a:path>
              </a:pathLst>
            </a:custGeom>
            <a:solidFill>
              <a:srgbClr val="EF5026"/>
            </a:solidFill>
          </p:spPr>
        </p:sp>
        <p:sp>
          <p:nvSpPr>
            <p:cNvPr name="TextBox 4" id="4"/>
            <p:cNvSpPr txBox="true"/>
            <p:nvPr/>
          </p:nvSpPr>
          <p:spPr>
            <a:xfrm>
              <a:off x="0" y="-57150"/>
              <a:ext cx="2512742" cy="418077"/>
            </a:xfrm>
            <a:prstGeom prst="rect">
              <a:avLst/>
            </a:prstGeom>
          </p:spPr>
          <p:txBody>
            <a:bodyPr anchor="ctr" rtlCol="false" tIns="50800" lIns="50800" bIns="50800" rIns="50800"/>
            <a:lstStyle/>
            <a:p>
              <a:pPr algn="ctr" marL="0" indent="0" lvl="0">
                <a:lnSpc>
                  <a:spcPts val="2871"/>
                </a:lnSpc>
              </a:pPr>
            </a:p>
          </p:txBody>
        </p:sp>
      </p:grpSp>
      <p:sp>
        <p:nvSpPr>
          <p:cNvPr name="Freeform 5" id="5"/>
          <p:cNvSpPr/>
          <p:nvPr/>
        </p:nvSpPr>
        <p:spPr>
          <a:xfrm flipH="false" flipV="false" rot="0">
            <a:off x="16518415" y="979562"/>
            <a:ext cx="750613" cy="626015"/>
          </a:xfrm>
          <a:custGeom>
            <a:avLst/>
            <a:gdLst/>
            <a:ahLst/>
            <a:cxnLst/>
            <a:rect r="r" b="b" t="t" l="l"/>
            <a:pathLst>
              <a:path h="626015" w="750613">
                <a:moveTo>
                  <a:pt x="0" y="0"/>
                </a:moveTo>
                <a:lnTo>
                  <a:pt x="750613" y="0"/>
                </a:lnTo>
                <a:lnTo>
                  <a:pt x="750613" y="626015"/>
                </a:lnTo>
                <a:lnTo>
                  <a:pt x="0" y="626015"/>
                </a:lnTo>
                <a:lnTo>
                  <a:pt x="0" y="0"/>
                </a:lnTo>
                <a:close/>
              </a:path>
            </a:pathLst>
          </a:custGeom>
          <a:blipFill>
            <a:blip r:embed="rId2">
              <a:extLst>
                <a:ext uri="{96DAC541-7B7A-43D3-8B79-37D633B846F1}">
                  <asvg:svgBlip xmlns:asvg="http://schemas.microsoft.com/office/drawing/2016/SVG/main" r:embed="rId3"/>
                </a:ext>
              </a:extLst>
            </a:blip>
            <a:stretch>
              <a:fillRect l="-285065" t="0" r="0" b="-72930"/>
            </a:stretch>
          </a:blipFill>
        </p:spPr>
      </p:sp>
      <p:sp>
        <p:nvSpPr>
          <p:cNvPr name="Freeform 6" id="6"/>
          <p:cNvSpPr/>
          <p:nvPr/>
        </p:nvSpPr>
        <p:spPr>
          <a:xfrm flipH="false" flipV="false" rot="0">
            <a:off x="1027292" y="8861058"/>
            <a:ext cx="344885" cy="344885"/>
          </a:xfrm>
          <a:custGeom>
            <a:avLst/>
            <a:gdLst/>
            <a:ahLst/>
            <a:cxnLst/>
            <a:rect r="r" b="b" t="t" l="l"/>
            <a:pathLst>
              <a:path h="344885" w="344885">
                <a:moveTo>
                  <a:pt x="0" y="0"/>
                </a:moveTo>
                <a:lnTo>
                  <a:pt x="344885" y="0"/>
                </a:lnTo>
                <a:lnTo>
                  <a:pt x="344885" y="344885"/>
                </a:lnTo>
                <a:lnTo>
                  <a:pt x="0" y="3448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6278691" y="8861058"/>
            <a:ext cx="344885" cy="344885"/>
          </a:xfrm>
          <a:custGeom>
            <a:avLst/>
            <a:gdLst/>
            <a:ahLst/>
            <a:cxnLst/>
            <a:rect r="r" b="b" t="t" l="l"/>
            <a:pathLst>
              <a:path h="344885" w="344885">
                <a:moveTo>
                  <a:pt x="0" y="0"/>
                </a:moveTo>
                <a:lnTo>
                  <a:pt x="344885" y="0"/>
                </a:lnTo>
                <a:lnTo>
                  <a:pt x="344885" y="344885"/>
                </a:lnTo>
                <a:lnTo>
                  <a:pt x="0" y="344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4654435" y="8773661"/>
            <a:ext cx="52185" cy="484639"/>
            <a:chOff x="0" y="0"/>
            <a:chExt cx="13744" cy="127641"/>
          </a:xfrm>
        </p:grpSpPr>
        <p:sp>
          <p:nvSpPr>
            <p:cNvPr name="Freeform 9" id="9"/>
            <p:cNvSpPr/>
            <p:nvPr/>
          </p:nvSpPr>
          <p:spPr>
            <a:xfrm flipH="false" flipV="false" rot="0">
              <a:off x="0" y="0"/>
              <a:ext cx="13744" cy="127641"/>
            </a:xfrm>
            <a:custGeom>
              <a:avLst/>
              <a:gdLst/>
              <a:ahLst/>
              <a:cxnLst/>
              <a:rect r="r" b="b" t="t" l="l"/>
              <a:pathLst>
                <a:path h="127641" w="13744">
                  <a:moveTo>
                    <a:pt x="0" y="0"/>
                  </a:moveTo>
                  <a:lnTo>
                    <a:pt x="13744" y="0"/>
                  </a:lnTo>
                  <a:lnTo>
                    <a:pt x="13744" y="127641"/>
                  </a:lnTo>
                  <a:lnTo>
                    <a:pt x="0" y="127641"/>
                  </a:lnTo>
                  <a:close/>
                </a:path>
              </a:pathLst>
            </a:custGeom>
            <a:solidFill>
              <a:srgbClr val="EF5026"/>
            </a:solidFill>
          </p:spPr>
        </p:sp>
        <p:sp>
          <p:nvSpPr>
            <p:cNvPr name="TextBox 10" id="10"/>
            <p:cNvSpPr txBox="true"/>
            <p:nvPr/>
          </p:nvSpPr>
          <p:spPr>
            <a:xfrm>
              <a:off x="0" y="-57150"/>
              <a:ext cx="13744" cy="184791"/>
            </a:xfrm>
            <a:prstGeom prst="rect">
              <a:avLst/>
            </a:prstGeom>
          </p:spPr>
          <p:txBody>
            <a:bodyPr anchor="ctr" rtlCol="false" tIns="50800" lIns="50800" bIns="50800" rIns="50800"/>
            <a:lstStyle/>
            <a:p>
              <a:pPr algn="ctr" marL="0" indent="0" lvl="0">
                <a:lnSpc>
                  <a:spcPts val="2871"/>
                </a:lnSpc>
              </a:pPr>
            </a:p>
          </p:txBody>
        </p:sp>
      </p:grpSp>
      <p:grpSp>
        <p:nvGrpSpPr>
          <p:cNvPr name="Group 11" id="11"/>
          <p:cNvGrpSpPr/>
          <p:nvPr/>
        </p:nvGrpSpPr>
        <p:grpSpPr>
          <a:xfrm rot="0">
            <a:off x="11814054" y="8773661"/>
            <a:ext cx="52185" cy="484639"/>
            <a:chOff x="0" y="0"/>
            <a:chExt cx="13744" cy="127641"/>
          </a:xfrm>
        </p:grpSpPr>
        <p:sp>
          <p:nvSpPr>
            <p:cNvPr name="Freeform 12" id="12"/>
            <p:cNvSpPr/>
            <p:nvPr/>
          </p:nvSpPr>
          <p:spPr>
            <a:xfrm flipH="false" flipV="false" rot="0">
              <a:off x="0" y="0"/>
              <a:ext cx="13744" cy="127641"/>
            </a:xfrm>
            <a:custGeom>
              <a:avLst/>
              <a:gdLst/>
              <a:ahLst/>
              <a:cxnLst/>
              <a:rect r="r" b="b" t="t" l="l"/>
              <a:pathLst>
                <a:path h="127641" w="13744">
                  <a:moveTo>
                    <a:pt x="0" y="0"/>
                  </a:moveTo>
                  <a:lnTo>
                    <a:pt x="13744" y="0"/>
                  </a:lnTo>
                  <a:lnTo>
                    <a:pt x="13744" y="127641"/>
                  </a:lnTo>
                  <a:lnTo>
                    <a:pt x="0" y="127641"/>
                  </a:lnTo>
                  <a:close/>
                </a:path>
              </a:pathLst>
            </a:custGeom>
            <a:solidFill>
              <a:srgbClr val="EF5026"/>
            </a:solidFill>
          </p:spPr>
        </p:sp>
        <p:sp>
          <p:nvSpPr>
            <p:cNvPr name="TextBox 13" id="13"/>
            <p:cNvSpPr txBox="true"/>
            <p:nvPr/>
          </p:nvSpPr>
          <p:spPr>
            <a:xfrm>
              <a:off x="0" y="-57150"/>
              <a:ext cx="13744" cy="184791"/>
            </a:xfrm>
            <a:prstGeom prst="rect">
              <a:avLst/>
            </a:prstGeom>
          </p:spPr>
          <p:txBody>
            <a:bodyPr anchor="ctr" rtlCol="false" tIns="50800" lIns="50800" bIns="50800" rIns="50800"/>
            <a:lstStyle/>
            <a:p>
              <a:pPr algn="ctr" marL="0" indent="0" lvl="0">
                <a:lnSpc>
                  <a:spcPts val="2871"/>
                </a:lnSpc>
              </a:pPr>
            </a:p>
          </p:txBody>
        </p:sp>
      </p:grpSp>
      <p:sp>
        <p:nvSpPr>
          <p:cNvPr name="TextBox 14" id="14"/>
          <p:cNvSpPr txBox="true"/>
          <p:nvPr/>
        </p:nvSpPr>
        <p:spPr>
          <a:xfrm rot="0">
            <a:off x="13066331" y="8814703"/>
            <a:ext cx="4192969" cy="216784"/>
          </a:xfrm>
          <a:prstGeom prst="rect">
            <a:avLst/>
          </a:prstGeom>
        </p:spPr>
        <p:txBody>
          <a:bodyPr anchor="t" rtlCol="false" tIns="0" lIns="0" bIns="0" rIns="0">
            <a:spAutoFit/>
          </a:bodyPr>
          <a:lstStyle/>
          <a:p>
            <a:pPr algn="r" marL="0" indent="0" lvl="0">
              <a:lnSpc>
                <a:spcPts val="1701"/>
              </a:lnSpc>
              <a:spcBef>
                <a:spcPct val="0"/>
              </a:spcBef>
            </a:pPr>
            <a:r>
              <a:rPr lang="en-US" sz="1215" spc="2">
                <a:solidFill>
                  <a:srgbClr val="020F8D"/>
                </a:solidFill>
                <a:latin typeface="Poppins"/>
                <a:ea typeface="Poppins"/>
                <a:cs typeface="Poppins"/>
                <a:sym typeface="Poppins"/>
              </a:rPr>
              <a:t>hello@reallygreatsite.com</a:t>
            </a:r>
          </a:p>
        </p:txBody>
      </p:sp>
      <p:sp>
        <p:nvSpPr>
          <p:cNvPr name="Freeform 15" id="15"/>
          <p:cNvSpPr/>
          <p:nvPr/>
        </p:nvSpPr>
        <p:spPr>
          <a:xfrm flipH="false" flipV="false" rot="0">
            <a:off x="13156263" y="8902628"/>
            <a:ext cx="352225" cy="226705"/>
          </a:xfrm>
          <a:custGeom>
            <a:avLst/>
            <a:gdLst/>
            <a:ahLst/>
            <a:cxnLst/>
            <a:rect r="r" b="b" t="t" l="l"/>
            <a:pathLst>
              <a:path h="226705" w="352225">
                <a:moveTo>
                  <a:pt x="0" y="0"/>
                </a:moveTo>
                <a:lnTo>
                  <a:pt x="352225" y="0"/>
                </a:lnTo>
                <a:lnTo>
                  <a:pt x="352225" y="226705"/>
                </a:lnTo>
                <a:lnTo>
                  <a:pt x="0" y="2267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4654435" y="1129447"/>
            <a:ext cx="1662550" cy="207645"/>
          </a:xfrm>
          <a:prstGeom prst="rect">
            <a:avLst/>
          </a:prstGeom>
        </p:spPr>
        <p:txBody>
          <a:bodyPr anchor="t" rtlCol="false" tIns="0" lIns="0" bIns="0" rIns="0">
            <a:spAutoFit/>
          </a:bodyPr>
          <a:lstStyle/>
          <a:p>
            <a:pPr algn="ctr" marL="0" indent="0" lvl="0">
              <a:lnSpc>
                <a:spcPts val="1679"/>
              </a:lnSpc>
              <a:spcBef>
                <a:spcPct val="0"/>
              </a:spcBef>
            </a:pPr>
            <a:r>
              <a:rPr lang="en-US" sz="1200" spc="2">
                <a:solidFill>
                  <a:srgbClr val="FFFFFF"/>
                </a:solidFill>
                <a:latin typeface="Poppins"/>
                <a:ea typeface="Poppins"/>
                <a:cs typeface="Poppins"/>
                <a:sym typeface="Poppins"/>
              </a:rPr>
              <a:t>Home</a:t>
            </a:r>
          </a:p>
        </p:txBody>
      </p:sp>
      <p:sp>
        <p:nvSpPr>
          <p:cNvPr name="TextBox 17" id="17"/>
          <p:cNvSpPr txBox="true"/>
          <p:nvPr/>
        </p:nvSpPr>
        <p:spPr>
          <a:xfrm rot="0">
            <a:off x="6918558" y="1131660"/>
            <a:ext cx="1907082" cy="207645"/>
          </a:xfrm>
          <a:prstGeom prst="rect">
            <a:avLst/>
          </a:prstGeom>
        </p:spPr>
        <p:txBody>
          <a:bodyPr anchor="t" rtlCol="false" tIns="0" lIns="0" bIns="0" rIns="0">
            <a:spAutoFit/>
          </a:bodyPr>
          <a:lstStyle/>
          <a:p>
            <a:pPr algn="ctr" marL="0" indent="0" lvl="0">
              <a:lnSpc>
                <a:spcPts val="1679"/>
              </a:lnSpc>
              <a:spcBef>
                <a:spcPct val="0"/>
              </a:spcBef>
            </a:pPr>
            <a:r>
              <a:rPr lang="en-US" sz="1200" spc="2">
                <a:solidFill>
                  <a:srgbClr val="FFFFFF"/>
                </a:solidFill>
                <a:latin typeface="Poppins"/>
                <a:ea typeface="Poppins"/>
                <a:cs typeface="Poppins"/>
                <a:sym typeface="Poppins"/>
              </a:rPr>
              <a:t>About</a:t>
            </a:r>
          </a:p>
        </p:txBody>
      </p:sp>
      <p:sp>
        <p:nvSpPr>
          <p:cNvPr name="TextBox 18" id="18"/>
          <p:cNvSpPr txBox="true"/>
          <p:nvPr/>
        </p:nvSpPr>
        <p:spPr>
          <a:xfrm rot="0">
            <a:off x="9626180" y="1131660"/>
            <a:ext cx="1589190" cy="207645"/>
          </a:xfrm>
          <a:prstGeom prst="rect">
            <a:avLst/>
          </a:prstGeom>
        </p:spPr>
        <p:txBody>
          <a:bodyPr anchor="t" rtlCol="false" tIns="0" lIns="0" bIns="0" rIns="0">
            <a:spAutoFit/>
          </a:bodyPr>
          <a:lstStyle/>
          <a:p>
            <a:pPr algn="ctr" marL="0" indent="0" lvl="0">
              <a:lnSpc>
                <a:spcPts val="1679"/>
              </a:lnSpc>
              <a:spcBef>
                <a:spcPct val="0"/>
              </a:spcBef>
            </a:pPr>
            <a:r>
              <a:rPr lang="en-US" sz="1200" spc="2">
                <a:solidFill>
                  <a:srgbClr val="FFFFFF"/>
                </a:solidFill>
                <a:latin typeface="Poppins"/>
                <a:ea typeface="Poppins"/>
                <a:cs typeface="Poppins"/>
                <a:sym typeface="Poppins"/>
              </a:rPr>
              <a:t>Content</a:t>
            </a:r>
          </a:p>
        </p:txBody>
      </p:sp>
      <p:sp>
        <p:nvSpPr>
          <p:cNvPr name="TextBox 19" id="19"/>
          <p:cNvSpPr txBox="true"/>
          <p:nvPr/>
        </p:nvSpPr>
        <p:spPr>
          <a:xfrm rot="0">
            <a:off x="11559765" y="1129447"/>
            <a:ext cx="2224975" cy="207645"/>
          </a:xfrm>
          <a:prstGeom prst="rect">
            <a:avLst/>
          </a:prstGeom>
        </p:spPr>
        <p:txBody>
          <a:bodyPr anchor="t" rtlCol="false" tIns="0" lIns="0" bIns="0" rIns="0">
            <a:spAutoFit/>
          </a:bodyPr>
          <a:lstStyle/>
          <a:p>
            <a:pPr algn="ctr" marL="0" indent="0" lvl="0">
              <a:lnSpc>
                <a:spcPts val="1679"/>
              </a:lnSpc>
              <a:spcBef>
                <a:spcPct val="0"/>
              </a:spcBef>
            </a:pPr>
            <a:r>
              <a:rPr lang="en-US" b="true" sz="1200" spc="2">
                <a:solidFill>
                  <a:srgbClr val="FFFFFF"/>
                </a:solidFill>
                <a:latin typeface="Poppins Bold"/>
                <a:ea typeface="Poppins Bold"/>
                <a:cs typeface="Poppins Bold"/>
                <a:sym typeface="Poppins Bold"/>
              </a:rPr>
              <a:t>Others</a:t>
            </a:r>
          </a:p>
        </p:txBody>
      </p:sp>
      <p:sp>
        <p:nvSpPr>
          <p:cNvPr name="TextBox 20" id="20"/>
          <p:cNvSpPr txBox="true"/>
          <p:nvPr/>
        </p:nvSpPr>
        <p:spPr>
          <a:xfrm rot="0">
            <a:off x="1028700" y="862396"/>
            <a:ext cx="1761862" cy="259320"/>
          </a:xfrm>
          <a:prstGeom prst="rect">
            <a:avLst/>
          </a:prstGeom>
        </p:spPr>
        <p:txBody>
          <a:bodyPr anchor="t" rtlCol="false" tIns="0" lIns="0" bIns="0" rIns="0">
            <a:spAutoFit/>
          </a:bodyPr>
          <a:lstStyle/>
          <a:p>
            <a:pPr algn="l" marL="0" indent="0" lvl="0">
              <a:lnSpc>
                <a:spcPts val="1981"/>
              </a:lnSpc>
              <a:spcBef>
                <a:spcPct val="0"/>
              </a:spcBef>
            </a:pPr>
            <a:r>
              <a:rPr lang="en-US" b="true" sz="1415" spc="2">
                <a:solidFill>
                  <a:srgbClr val="020F8D"/>
                </a:solidFill>
                <a:latin typeface="Poppins Heavy"/>
                <a:ea typeface="Poppins Heavy"/>
                <a:cs typeface="Poppins Heavy"/>
                <a:sym typeface="Poppins Heavy"/>
              </a:rPr>
              <a:t>Thynk</a:t>
            </a:r>
          </a:p>
        </p:txBody>
      </p:sp>
      <p:sp>
        <p:nvSpPr>
          <p:cNvPr name="TextBox 21" id="21"/>
          <p:cNvSpPr txBox="true"/>
          <p:nvPr/>
        </p:nvSpPr>
        <p:spPr>
          <a:xfrm rot="0">
            <a:off x="1028700" y="1183457"/>
            <a:ext cx="1761862" cy="259320"/>
          </a:xfrm>
          <a:prstGeom prst="rect">
            <a:avLst/>
          </a:prstGeom>
        </p:spPr>
        <p:txBody>
          <a:bodyPr anchor="t" rtlCol="false" tIns="0" lIns="0" bIns="0" rIns="0">
            <a:spAutoFit/>
          </a:bodyPr>
          <a:lstStyle/>
          <a:p>
            <a:pPr algn="l" marL="0" indent="0" lvl="0">
              <a:lnSpc>
                <a:spcPts val="1981"/>
              </a:lnSpc>
              <a:spcBef>
                <a:spcPct val="0"/>
              </a:spcBef>
            </a:pPr>
            <a:r>
              <a:rPr lang="en-US" sz="1415" spc="2">
                <a:solidFill>
                  <a:srgbClr val="020F8D"/>
                </a:solidFill>
                <a:latin typeface="Poppins"/>
                <a:ea typeface="Poppins"/>
                <a:cs typeface="Poppins"/>
                <a:sym typeface="Poppins"/>
              </a:rPr>
              <a:t>Unlimited.</a:t>
            </a:r>
          </a:p>
        </p:txBody>
      </p:sp>
      <p:sp>
        <p:nvSpPr>
          <p:cNvPr name="TextBox 22" id="22"/>
          <p:cNvSpPr txBox="true"/>
          <p:nvPr/>
        </p:nvSpPr>
        <p:spPr>
          <a:xfrm rot="0">
            <a:off x="1633997" y="8814703"/>
            <a:ext cx="2578665" cy="216784"/>
          </a:xfrm>
          <a:prstGeom prst="rect">
            <a:avLst/>
          </a:prstGeom>
        </p:spPr>
        <p:txBody>
          <a:bodyPr anchor="t" rtlCol="false" tIns="0" lIns="0" bIns="0" rIns="0">
            <a:spAutoFit/>
          </a:bodyPr>
          <a:lstStyle/>
          <a:p>
            <a:pPr algn="l" marL="0" indent="0" lvl="0">
              <a:lnSpc>
                <a:spcPts val="1701"/>
              </a:lnSpc>
              <a:spcBef>
                <a:spcPct val="0"/>
              </a:spcBef>
            </a:pPr>
            <a:r>
              <a:rPr lang="en-US" sz="1215" spc="2">
                <a:solidFill>
                  <a:srgbClr val="020F8D"/>
                </a:solidFill>
                <a:latin typeface="Poppins"/>
                <a:ea typeface="Poppins"/>
                <a:cs typeface="Poppins"/>
                <a:sym typeface="Poppins"/>
              </a:rPr>
              <a:t>Questions &amp; Discussion Welcome</a:t>
            </a:r>
          </a:p>
        </p:txBody>
      </p:sp>
      <p:sp>
        <p:nvSpPr>
          <p:cNvPr name="TextBox 23" id="23"/>
          <p:cNvSpPr txBox="true"/>
          <p:nvPr/>
        </p:nvSpPr>
        <p:spPr>
          <a:xfrm rot="0">
            <a:off x="6807333" y="8822958"/>
            <a:ext cx="4192969" cy="216784"/>
          </a:xfrm>
          <a:prstGeom prst="rect">
            <a:avLst/>
          </a:prstGeom>
        </p:spPr>
        <p:txBody>
          <a:bodyPr anchor="t" rtlCol="false" tIns="0" lIns="0" bIns="0" rIns="0">
            <a:spAutoFit/>
          </a:bodyPr>
          <a:lstStyle/>
          <a:p>
            <a:pPr algn="l" marL="0" indent="0" lvl="0">
              <a:lnSpc>
                <a:spcPts val="1701"/>
              </a:lnSpc>
              <a:spcBef>
                <a:spcPct val="0"/>
              </a:spcBef>
            </a:pPr>
            <a:r>
              <a:rPr lang="en-US" sz="1215" spc="2">
                <a:solidFill>
                  <a:srgbClr val="020F8D"/>
                </a:solidFill>
                <a:latin typeface="Poppins"/>
                <a:ea typeface="Poppins"/>
                <a:cs typeface="Poppins"/>
                <a:sym typeface="Poppins"/>
              </a:rPr>
              <a:t>www.reallygreatsite.com</a:t>
            </a:r>
          </a:p>
        </p:txBody>
      </p:sp>
      <p:sp>
        <p:nvSpPr>
          <p:cNvPr name="TextBox 24" id="24"/>
          <p:cNvSpPr txBox="true"/>
          <p:nvPr/>
        </p:nvSpPr>
        <p:spPr>
          <a:xfrm rot="0">
            <a:off x="4418602" y="3514981"/>
            <a:ext cx="9450796" cy="2067683"/>
          </a:xfrm>
          <a:prstGeom prst="rect">
            <a:avLst/>
          </a:prstGeom>
        </p:spPr>
        <p:txBody>
          <a:bodyPr anchor="t" rtlCol="false" tIns="0" lIns="0" bIns="0" rIns="0">
            <a:spAutoFit/>
          </a:bodyPr>
          <a:lstStyle/>
          <a:p>
            <a:pPr algn="ctr" marL="0" indent="0" lvl="0">
              <a:lnSpc>
                <a:spcPts val="7553"/>
              </a:lnSpc>
            </a:pPr>
            <a:r>
              <a:rPr lang="en-US" b="true" sz="8487" spc="-280">
                <a:solidFill>
                  <a:srgbClr val="020F8D"/>
                </a:solidFill>
                <a:latin typeface="Poppins Bold"/>
                <a:ea typeface="Poppins Bold"/>
                <a:cs typeface="Poppins Bold"/>
                <a:sym typeface="Poppins Bold"/>
              </a:rPr>
              <a:t>Thank You</a:t>
            </a:r>
          </a:p>
          <a:p>
            <a:pPr algn="ctr" marL="0" indent="0" lvl="0">
              <a:lnSpc>
                <a:spcPts val="7553"/>
              </a:lnSpc>
            </a:pPr>
            <a:r>
              <a:rPr lang="en-US" b="true" sz="8487" spc="-280">
                <a:solidFill>
                  <a:srgbClr val="020F8D"/>
                </a:solidFill>
                <a:latin typeface="Poppins Bold"/>
                <a:ea typeface="Poppins Bold"/>
                <a:cs typeface="Poppins Bold"/>
                <a:sym typeface="Poppins Bold"/>
              </a:rPr>
              <a:t>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DAHMRKb7xr0</dc:identifier>
  <dcterms:modified xsi:type="dcterms:W3CDTF">2011-08-01T06:04:30Z</dcterms:modified>
  <cp:revision>1</cp:revision>
  <dc:title>Delivery Delays: Internal &amp; External Factors and Satisfaction</dc:title>
</cp:coreProperties>
</file>